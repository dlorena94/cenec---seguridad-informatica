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5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92" y="3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91E81-1495-42DF-80DB-B3D39B1658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7D2AE3B-842F-4E8B-BC99-57B539932F9E}">
      <dgm:prSet/>
      <dgm:spPr/>
      <dgm:t>
        <a:bodyPr/>
        <a:lstStyle/>
        <a:p>
          <a:r>
            <a:rPr lang="es-ES"/>
            <a:t>Permite un control granular sobre el trafico de red</a:t>
          </a:r>
          <a:endParaRPr lang="en-US"/>
        </a:p>
      </dgm:t>
    </dgm:pt>
    <dgm:pt modelId="{54758C64-E7FD-4347-B9D6-BCE349176064}" type="parTrans" cxnId="{E1398ADA-A20C-43ED-B4B1-09E192F46BA3}">
      <dgm:prSet/>
      <dgm:spPr/>
      <dgm:t>
        <a:bodyPr/>
        <a:lstStyle/>
        <a:p>
          <a:endParaRPr lang="en-US"/>
        </a:p>
      </dgm:t>
    </dgm:pt>
    <dgm:pt modelId="{9C2A7168-4D6C-4B11-AECE-51E48ED30D05}" type="sibTrans" cxnId="{E1398ADA-A20C-43ED-B4B1-09E192F46BA3}">
      <dgm:prSet/>
      <dgm:spPr/>
      <dgm:t>
        <a:bodyPr/>
        <a:lstStyle/>
        <a:p>
          <a:endParaRPr lang="en-US"/>
        </a:p>
      </dgm:t>
    </dgm:pt>
    <dgm:pt modelId="{A8D0A180-40ED-4B6B-B069-2D9325A54EA0}">
      <dgm:prSet/>
      <dgm:spPr/>
      <dgm:t>
        <a:bodyPr/>
        <a:lstStyle/>
        <a:p>
          <a:r>
            <a:rPr lang="es-ES"/>
            <a:t>Se parte de la premisa de que nada se permite</a:t>
          </a:r>
          <a:endParaRPr lang="en-US"/>
        </a:p>
      </dgm:t>
    </dgm:pt>
    <dgm:pt modelId="{FCA33320-8E2D-44F8-B89B-CB2DC928B607}" type="parTrans" cxnId="{C673B0A7-E258-480C-9765-57F552C299C9}">
      <dgm:prSet/>
      <dgm:spPr/>
      <dgm:t>
        <a:bodyPr/>
        <a:lstStyle/>
        <a:p>
          <a:endParaRPr lang="en-US"/>
        </a:p>
      </dgm:t>
    </dgm:pt>
    <dgm:pt modelId="{B3112AAF-292E-4B59-8A0B-8E4E48EDC264}" type="sibTrans" cxnId="{C673B0A7-E258-480C-9765-57F552C299C9}">
      <dgm:prSet/>
      <dgm:spPr/>
      <dgm:t>
        <a:bodyPr/>
        <a:lstStyle/>
        <a:p>
          <a:endParaRPr lang="en-US"/>
        </a:p>
      </dgm:t>
    </dgm:pt>
    <dgm:pt modelId="{95A0A2D5-626B-4F72-8E7F-9AB926C584B2}">
      <dgm:prSet/>
      <dgm:spPr/>
      <dgm:t>
        <a:bodyPr/>
        <a:lstStyle/>
        <a:p>
          <a:r>
            <a:rPr lang="es-ES"/>
            <a:t>Se evita tener configuraciones descuidadas en la red.</a:t>
          </a:r>
          <a:endParaRPr lang="en-US"/>
        </a:p>
      </dgm:t>
    </dgm:pt>
    <dgm:pt modelId="{B900A44F-ADD4-469D-B0EF-33CEFC02DC96}" type="parTrans" cxnId="{9A63C649-4FC9-4381-8E5D-343D1164E4CA}">
      <dgm:prSet/>
      <dgm:spPr/>
      <dgm:t>
        <a:bodyPr/>
        <a:lstStyle/>
        <a:p>
          <a:endParaRPr lang="en-US"/>
        </a:p>
      </dgm:t>
    </dgm:pt>
    <dgm:pt modelId="{7A196A68-8113-4560-8B91-41C5863B6EB4}" type="sibTrans" cxnId="{9A63C649-4FC9-4381-8E5D-343D1164E4CA}">
      <dgm:prSet/>
      <dgm:spPr/>
      <dgm:t>
        <a:bodyPr/>
        <a:lstStyle/>
        <a:p>
          <a:endParaRPr lang="en-US"/>
        </a:p>
      </dgm:t>
    </dgm:pt>
    <dgm:pt modelId="{2DAD4F1A-104D-4FDE-B381-ECFA09C978F5}">
      <dgm:prSet/>
      <dgm:spPr/>
      <dgm:t>
        <a:bodyPr/>
        <a:lstStyle/>
        <a:p>
          <a:r>
            <a:rPr lang="es-ES"/>
            <a:t>Agregar reglas especificas para permitir el trafico</a:t>
          </a:r>
          <a:endParaRPr lang="en-US"/>
        </a:p>
      </dgm:t>
    </dgm:pt>
    <dgm:pt modelId="{DCDDDEA9-143A-4281-955B-061C28E5F375}" type="parTrans" cxnId="{1F69F6C9-A533-481E-9285-14490417961F}">
      <dgm:prSet/>
      <dgm:spPr/>
      <dgm:t>
        <a:bodyPr/>
        <a:lstStyle/>
        <a:p>
          <a:endParaRPr lang="en-US"/>
        </a:p>
      </dgm:t>
    </dgm:pt>
    <dgm:pt modelId="{5593DC4A-42DB-41B0-B36B-7AFFF11B719F}" type="sibTrans" cxnId="{1F69F6C9-A533-481E-9285-14490417961F}">
      <dgm:prSet/>
      <dgm:spPr/>
      <dgm:t>
        <a:bodyPr/>
        <a:lstStyle/>
        <a:p>
          <a:endParaRPr lang="en-US"/>
        </a:p>
      </dgm:t>
    </dgm:pt>
    <dgm:pt modelId="{0C3103EE-3C4B-48E1-932C-ABCCFCAE1C37}" type="pres">
      <dgm:prSet presAssocID="{90191E81-1495-42DF-80DB-B3D39B165873}" presName="linear" presStyleCnt="0">
        <dgm:presLayoutVars>
          <dgm:animLvl val="lvl"/>
          <dgm:resizeHandles val="exact"/>
        </dgm:presLayoutVars>
      </dgm:prSet>
      <dgm:spPr/>
    </dgm:pt>
    <dgm:pt modelId="{8CBAE0D2-0F13-4672-B538-DAFD8899A891}" type="pres">
      <dgm:prSet presAssocID="{A7D2AE3B-842F-4E8B-BC99-57B539932F9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0BDD716-385B-413B-8D70-E518AEEF9184}" type="pres">
      <dgm:prSet presAssocID="{9C2A7168-4D6C-4B11-AECE-51E48ED30D05}" presName="spacer" presStyleCnt="0"/>
      <dgm:spPr/>
    </dgm:pt>
    <dgm:pt modelId="{7ADBEC3D-0F70-418C-AC7F-E67AA6DEE635}" type="pres">
      <dgm:prSet presAssocID="{A8D0A180-40ED-4B6B-B069-2D9325A54E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D9FBB52-040A-4092-AE30-86954B158E05}" type="pres">
      <dgm:prSet presAssocID="{B3112AAF-292E-4B59-8A0B-8E4E48EDC264}" presName="spacer" presStyleCnt="0"/>
      <dgm:spPr/>
    </dgm:pt>
    <dgm:pt modelId="{5437191B-72A3-49DE-A6AA-1B363283E766}" type="pres">
      <dgm:prSet presAssocID="{95A0A2D5-626B-4F72-8E7F-9AB926C584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1963E4C-6320-4781-AAD9-161EF4087DC5}" type="pres">
      <dgm:prSet presAssocID="{7A196A68-8113-4560-8B91-41C5863B6EB4}" presName="spacer" presStyleCnt="0"/>
      <dgm:spPr/>
    </dgm:pt>
    <dgm:pt modelId="{DE420971-2CC8-4184-82F2-9948C4E3C935}" type="pres">
      <dgm:prSet presAssocID="{2DAD4F1A-104D-4FDE-B381-ECFA09C978F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A339C08-5E95-43E2-A861-58B6F9B9CAC6}" type="presOf" srcId="{A8D0A180-40ED-4B6B-B069-2D9325A54EA0}" destId="{7ADBEC3D-0F70-418C-AC7F-E67AA6DEE635}" srcOrd="0" destOrd="0" presId="urn:microsoft.com/office/officeart/2005/8/layout/vList2"/>
    <dgm:cxn modelId="{7472D226-2483-43A1-84E2-30BF72CDADDF}" type="presOf" srcId="{A7D2AE3B-842F-4E8B-BC99-57B539932F9E}" destId="{8CBAE0D2-0F13-4672-B538-DAFD8899A891}" srcOrd="0" destOrd="0" presId="urn:microsoft.com/office/officeart/2005/8/layout/vList2"/>
    <dgm:cxn modelId="{A629B530-5A4D-437E-8B98-419FCC96D53D}" type="presOf" srcId="{2DAD4F1A-104D-4FDE-B381-ECFA09C978F5}" destId="{DE420971-2CC8-4184-82F2-9948C4E3C935}" srcOrd="0" destOrd="0" presId="urn:microsoft.com/office/officeart/2005/8/layout/vList2"/>
    <dgm:cxn modelId="{BFCE113F-F6C5-495C-85E4-C50711C749D3}" type="presOf" srcId="{90191E81-1495-42DF-80DB-B3D39B165873}" destId="{0C3103EE-3C4B-48E1-932C-ABCCFCAE1C37}" srcOrd="0" destOrd="0" presId="urn:microsoft.com/office/officeart/2005/8/layout/vList2"/>
    <dgm:cxn modelId="{9A63C649-4FC9-4381-8E5D-343D1164E4CA}" srcId="{90191E81-1495-42DF-80DB-B3D39B165873}" destId="{95A0A2D5-626B-4F72-8E7F-9AB926C584B2}" srcOrd="2" destOrd="0" parTransId="{B900A44F-ADD4-469D-B0EF-33CEFC02DC96}" sibTransId="{7A196A68-8113-4560-8B91-41C5863B6EB4}"/>
    <dgm:cxn modelId="{C673B0A7-E258-480C-9765-57F552C299C9}" srcId="{90191E81-1495-42DF-80DB-B3D39B165873}" destId="{A8D0A180-40ED-4B6B-B069-2D9325A54EA0}" srcOrd="1" destOrd="0" parTransId="{FCA33320-8E2D-44F8-B89B-CB2DC928B607}" sibTransId="{B3112AAF-292E-4B59-8A0B-8E4E48EDC264}"/>
    <dgm:cxn modelId="{A8FA64BF-F60D-45C0-84D6-DCA3D04B6550}" type="presOf" srcId="{95A0A2D5-626B-4F72-8E7F-9AB926C584B2}" destId="{5437191B-72A3-49DE-A6AA-1B363283E766}" srcOrd="0" destOrd="0" presId="urn:microsoft.com/office/officeart/2005/8/layout/vList2"/>
    <dgm:cxn modelId="{1F69F6C9-A533-481E-9285-14490417961F}" srcId="{90191E81-1495-42DF-80DB-B3D39B165873}" destId="{2DAD4F1A-104D-4FDE-B381-ECFA09C978F5}" srcOrd="3" destOrd="0" parTransId="{DCDDDEA9-143A-4281-955B-061C28E5F375}" sibTransId="{5593DC4A-42DB-41B0-B36B-7AFFF11B719F}"/>
    <dgm:cxn modelId="{E1398ADA-A20C-43ED-B4B1-09E192F46BA3}" srcId="{90191E81-1495-42DF-80DB-B3D39B165873}" destId="{A7D2AE3B-842F-4E8B-BC99-57B539932F9E}" srcOrd="0" destOrd="0" parTransId="{54758C64-E7FD-4347-B9D6-BCE349176064}" sibTransId="{9C2A7168-4D6C-4B11-AECE-51E48ED30D05}"/>
    <dgm:cxn modelId="{29199F22-2439-4210-BDAA-406A1243F454}" type="presParOf" srcId="{0C3103EE-3C4B-48E1-932C-ABCCFCAE1C37}" destId="{8CBAE0D2-0F13-4672-B538-DAFD8899A891}" srcOrd="0" destOrd="0" presId="urn:microsoft.com/office/officeart/2005/8/layout/vList2"/>
    <dgm:cxn modelId="{59DEC74F-BDC9-4A15-9C74-8E1E7C914489}" type="presParOf" srcId="{0C3103EE-3C4B-48E1-932C-ABCCFCAE1C37}" destId="{70BDD716-385B-413B-8D70-E518AEEF9184}" srcOrd="1" destOrd="0" presId="urn:microsoft.com/office/officeart/2005/8/layout/vList2"/>
    <dgm:cxn modelId="{E0F688F9-A783-4821-8811-4A2320AF2CF5}" type="presParOf" srcId="{0C3103EE-3C4B-48E1-932C-ABCCFCAE1C37}" destId="{7ADBEC3D-0F70-418C-AC7F-E67AA6DEE635}" srcOrd="2" destOrd="0" presId="urn:microsoft.com/office/officeart/2005/8/layout/vList2"/>
    <dgm:cxn modelId="{19A48C99-2CC4-49E2-B4D0-1FE1475AFC4D}" type="presParOf" srcId="{0C3103EE-3C4B-48E1-932C-ABCCFCAE1C37}" destId="{5D9FBB52-040A-4092-AE30-86954B158E05}" srcOrd="3" destOrd="0" presId="urn:microsoft.com/office/officeart/2005/8/layout/vList2"/>
    <dgm:cxn modelId="{58DB7479-F35C-42D2-BDCB-B6709E2B740A}" type="presParOf" srcId="{0C3103EE-3C4B-48E1-932C-ABCCFCAE1C37}" destId="{5437191B-72A3-49DE-A6AA-1B363283E766}" srcOrd="4" destOrd="0" presId="urn:microsoft.com/office/officeart/2005/8/layout/vList2"/>
    <dgm:cxn modelId="{9FD69D9C-C121-476B-A1C9-1E8C60554B9F}" type="presParOf" srcId="{0C3103EE-3C4B-48E1-932C-ABCCFCAE1C37}" destId="{F1963E4C-6320-4781-AAD9-161EF4087DC5}" srcOrd="5" destOrd="0" presId="urn:microsoft.com/office/officeart/2005/8/layout/vList2"/>
    <dgm:cxn modelId="{AFD4C386-5A78-4E23-81A8-57ABF602AA08}" type="presParOf" srcId="{0C3103EE-3C4B-48E1-932C-ABCCFCAE1C37}" destId="{DE420971-2CC8-4184-82F2-9948C4E3C93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B7AED0-D70E-4685-8B79-96B3C5BCFD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0E47BB-D958-4E8C-A7D1-884C8BF2444D}">
      <dgm:prSet/>
      <dgm:spPr/>
      <dgm:t>
        <a:bodyPr/>
        <a:lstStyle/>
        <a:p>
          <a:r>
            <a:rPr lang="es-ES" b="1"/>
            <a:t>Cortafuegos de estado de inspección profunda</a:t>
          </a:r>
          <a:endParaRPr lang="en-US"/>
        </a:p>
      </dgm:t>
    </dgm:pt>
    <dgm:pt modelId="{FCC14229-832C-4EAA-8116-7384E7D1B24D}" type="parTrans" cxnId="{582DE8F4-AD8D-4B26-85C2-F0B2D03B9249}">
      <dgm:prSet/>
      <dgm:spPr/>
      <dgm:t>
        <a:bodyPr/>
        <a:lstStyle/>
        <a:p>
          <a:endParaRPr lang="en-US"/>
        </a:p>
      </dgm:t>
    </dgm:pt>
    <dgm:pt modelId="{56A66B85-A87D-48F3-A3D5-4BAB69658370}" type="sibTrans" cxnId="{582DE8F4-AD8D-4B26-85C2-F0B2D03B9249}">
      <dgm:prSet/>
      <dgm:spPr/>
      <dgm:t>
        <a:bodyPr/>
        <a:lstStyle/>
        <a:p>
          <a:endParaRPr lang="en-US"/>
        </a:p>
      </dgm:t>
    </dgm:pt>
    <dgm:pt modelId="{B7622D56-6827-4580-9322-FCC870DAAC37}">
      <dgm:prSet/>
      <dgm:spPr/>
      <dgm:t>
        <a:bodyPr/>
        <a:lstStyle/>
        <a:p>
          <a:r>
            <a:rPr lang="es-ES"/>
            <a:t>Forma de funcionar</a:t>
          </a:r>
          <a:endParaRPr lang="en-US"/>
        </a:p>
      </dgm:t>
    </dgm:pt>
    <dgm:pt modelId="{73C334CE-CAB8-49BB-A766-E8F8D55151BB}" type="parTrans" cxnId="{5AD22AF0-2464-4E4E-B1D8-E3E84DC08859}">
      <dgm:prSet/>
      <dgm:spPr/>
      <dgm:t>
        <a:bodyPr/>
        <a:lstStyle/>
        <a:p>
          <a:endParaRPr lang="en-US"/>
        </a:p>
      </dgm:t>
    </dgm:pt>
    <dgm:pt modelId="{BF81DA01-2D75-411E-8546-AA9948D3CAAC}" type="sibTrans" cxnId="{5AD22AF0-2464-4E4E-B1D8-E3E84DC08859}">
      <dgm:prSet/>
      <dgm:spPr/>
      <dgm:t>
        <a:bodyPr/>
        <a:lstStyle/>
        <a:p>
          <a:endParaRPr lang="en-US"/>
        </a:p>
      </dgm:t>
    </dgm:pt>
    <dgm:pt modelId="{C406FDF4-B09F-4080-8180-E6C7B0B6AE96}">
      <dgm:prSet/>
      <dgm:spPr/>
      <dgm:t>
        <a:bodyPr/>
        <a:lstStyle/>
        <a:p>
          <a:r>
            <a:rPr lang="es-ES"/>
            <a:t>Examina el contenido al completo de los paquetes, evalúa el contexto de las aplicaciones, filtra por contenido y por el contexto de las conexiones, mantiene un registro detallado de las conexiones de red.</a:t>
          </a:r>
          <a:endParaRPr lang="en-US"/>
        </a:p>
      </dgm:t>
    </dgm:pt>
    <dgm:pt modelId="{150F1EB9-FA9C-4FD7-AB4C-B7D34424D5D0}" type="parTrans" cxnId="{A2DE8861-041A-4812-8C80-81AC56734B7B}">
      <dgm:prSet/>
      <dgm:spPr/>
      <dgm:t>
        <a:bodyPr/>
        <a:lstStyle/>
        <a:p>
          <a:endParaRPr lang="en-US"/>
        </a:p>
      </dgm:t>
    </dgm:pt>
    <dgm:pt modelId="{69C047C3-FCCF-4FBB-BC07-590BFE29ED3A}" type="sibTrans" cxnId="{A2DE8861-041A-4812-8C80-81AC56734B7B}">
      <dgm:prSet/>
      <dgm:spPr/>
      <dgm:t>
        <a:bodyPr/>
        <a:lstStyle/>
        <a:p>
          <a:endParaRPr lang="en-US"/>
        </a:p>
      </dgm:t>
    </dgm:pt>
    <dgm:pt modelId="{C57CCA28-559F-4772-A10E-DFCB5B5FADA5}">
      <dgm:prSet/>
      <dgm:spPr/>
      <dgm:t>
        <a:bodyPr/>
        <a:lstStyle/>
        <a:p>
          <a:r>
            <a:rPr lang="es-ES"/>
            <a:t>Componentes de esta arquitectura</a:t>
          </a:r>
          <a:endParaRPr lang="en-US"/>
        </a:p>
      </dgm:t>
    </dgm:pt>
    <dgm:pt modelId="{4E653934-70BE-4025-A1D4-6577D34F5A65}" type="parTrans" cxnId="{DEF18CB7-EDBF-4D98-834C-F943E7319BC3}">
      <dgm:prSet/>
      <dgm:spPr/>
      <dgm:t>
        <a:bodyPr/>
        <a:lstStyle/>
        <a:p>
          <a:endParaRPr lang="en-US"/>
        </a:p>
      </dgm:t>
    </dgm:pt>
    <dgm:pt modelId="{70923830-16DC-4D99-9456-A7B0665D7854}" type="sibTrans" cxnId="{DEF18CB7-EDBF-4D98-834C-F943E7319BC3}">
      <dgm:prSet/>
      <dgm:spPr/>
      <dgm:t>
        <a:bodyPr/>
        <a:lstStyle/>
        <a:p>
          <a:endParaRPr lang="en-US"/>
        </a:p>
      </dgm:t>
    </dgm:pt>
    <dgm:pt modelId="{85279791-D8E1-48BF-95E3-BC141E71C154}">
      <dgm:prSet/>
      <dgm:spPr/>
      <dgm:t>
        <a:bodyPr/>
        <a:lstStyle/>
        <a:p>
          <a:r>
            <a:rPr lang="es-ES"/>
            <a:t>Proxy inverso, análisis de trafico, reglas de seguridad, actualizaciones de firmas, informes y registros</a:t>
          </a:r>
          <a:endParaRPr lang="en-US"/>
        </a:p>
      </dgm:t>
    </dgm:pt>
    <dgm:pt modelId="{ED4C2EAE-BBAA-4EE6-9B14-D93DE7C885BE}" type="parTrans" cxnId="{67F1A136-D793-40C5-AD92-1605575D23B7}">
      <dgm:prSet/>
      <dgm:spPr/>
      <dgm:t>
        <a:bodyPr/>
        <a:lstStyle/>
        <a:p>
          <a:endParaRPr lang="en-US"/>
        </a:p>
      </dgm:t>
    </dgm:pt>
    <dgm:pt modelId="{77B50A5F-BF8F-4EA0-B3E7-153B99D6FE9D}" type="sibTrans" cxnId="{67F1A136-D793-40C5-AD92-1605575D23B7}">
      <dgm:prSet/>
      <dgm:spPr/>
      <dgm:t>
        <a:bodyPr/>
        <a:lstStyle/>
        <a:p>
          <a:endParaRPr lang="en-US"/>
        </a:p>
      </dgm:t>
    </dgm:pt>
    <dgm:pt modelId="{C44D507C-2F13-470E-AF5A-34DEA3C9BFAC}">
      <dgm:prSet/>
      <dgm:spPr/>
      <dgm:t>
        <a:bodyPr/>
        <a:lstStyle/>
        <a:p>
          <a:r>
            <a:rPr lang="es-ES" b="1"/>
            <a:t>Cortafuegos de segmentación de red</a:t>
          </a:r>
          <a:endParaRPr lang="en-US"/>
        </a:p>
      </dgm:t>
    </dgm:pt>
    <dgm:pt modelId="{C933C5FC-5C6D-4219-8B03-89BEBD7BA483}" type="parTrans" cxnId="{1D890317-3F64-4D20-8F92-07C93FA975E6}">
      <dgm:prSet/>
      <dgm:spPr/>
      <dgm:t>
        <a:bodyPr/>
        <a:lstStyle/>
        <a:p>
          <a:endParaRPr lang="en-US"/>
        </a:p>
      </dgm:t>
    </dgm:pt>
    <dgm:pt modelId="{6A0A2D4F-720A-4538-A921-FBF4852FC245}" type="sibTrans" cxnId="{1D890317-3F64-4D20-8F92-07C93FA975E6}">
      <dgm:prSet/>
      <dgm:spPr/>
      <dgm:t>
        <a:bodyPr/>
        <a:lstStyle/>
        <a:p>
          <a:endParaRPr lang="en-US"/>
        </a:p>
      </dgm:t>
    </dgm:pt>
    <dgm:pt modelId="{6D721781-43FF-419A-8792-BC92CFF81BF3}">
      <dgm:prSet/>
      <dgm:spPr/>
      <dgm:t>
        <a:bodyPr/>
        <a:lstStyle/>
        <a:p>
          <a:r>
            <a:rPr lang="es-ES"/>
            <a:t>Puede haber segmentación física o lógica.</a:t>
          </a:r>
          <a:endParaRPr lang="en-US"/>
        </a:p>
      </dgm:t>
    </dgm:pt>
    <dgm:pt modelId="{DA3994D9-5454-4124-B0E2-885B73A8C9FE}" type="parTrans" cxnId="{579138F3-7EF7-43F6-AA9A-0E22F79816F0}">
      <dgm:prSet/>
      <dgm:spPr/>
      <dgm:t>
        <a:bodyPr/>
        <a:lstStyle/>
        <a:p>
          <a:endParaRPr lang="en-US"/>
        </a:p>
      </dgm:t>
    </dgm:pt>
    <dgm:pt modelId="{79770A48-47D5-4DDE-8D7C-1B2B083802D5}" type="sibTrans" cxnId="{579138F3-7EF7-43F6-AA9A-0E22F79816F0}">
      <dgm:prSet/>
      <dgm:spPr/>
      <dgm:t>
        <a:bodyPr/>
        <a:lstStyle/>
        <a:p>
          <a:endParaRPr lang="en-US"/>
        </a:p>
      </dgm:t>
    </dgm:pt>
    <dgm:pt modelId="{AFAD9F20-5677-45CD-9996-23EE293D199D}">
      <dgm:prSet/>
      <dgm:spPr/>
      <dgm:t>
        <a:bodyPr/>
        <a:lstStyle/>
        <a:p>
          <a:r>
            <a:rPr lang="es-ES" b="1"/>
            <a:t>Cortafuegos distribuido.</a:t>
          </a:r>
          <a:endParaRPr lang="en-US"/>
        </a:p>
      </dgm:t>
    </dgm:pt>
    <dgm:pt modelId="{EAA23404-0531-4C69-B5E1-68E4DE5E50BF}" type="parTrans" cxnId="{63D55B07-DD24-43C8-B080-218A4B70B4C7}">
      <dgm:prSet/>
      <dgm:spPr/>
      <dgm:t>
        <a:bodyPr/>
        <a:lstStyle/>
        <a:p>
          <a:endParaRPr lang="en-US"/>
        </a:p>
      </dgm:t>
    </dgm:pt>
    <dgm:pt modelId="{ADB0110D-6D82-432B-9A79-F81C63738D6C}" type="sibTrans" cxnId="{63D55B07-DD24-43C8-B080-218A4B70B4C7}">
      <dgm:prSet/>
      <dgm:spPr/>
      <dgm:t>
        <a:bodyPr/>
        <a:lstStyle/>
        <a:p>
          <a:endParaRPr lang="en-US"/>
        </a:p>
      </dgm:t>
    </dgm:pt>
    <dgm:pt modelId="{1250754A-A53B-4373-9E86-19C39A23009B}">
      <dgm:prSet/>
      <dgm:spPr/>
      <dgm:t>
        <a:bodyPr/>
        <a:lstStyle/>
        <a:p>
          <a:r>
            <a:rPr lang="es-ES" b="1"/>
            <a:t>Cortafuegos de próxima generación</a:t>
          </a:r>
          <a:endParaRPr lang="en-US"/>
        </a:p>
      </dgm:t>
    </dgm:pt>
    <dgm:pt modelId="{DB3D19DD-47D0-4ADE-BA99-4B2596E498EB}" type="parTrans" cxnId="{46B1B760-F8BC-4F45-8582-5C0A5DD7DD50}">
      <dgm:prSet/>
      <dgm:spPr/>
      <dgm:t>
        <a:bodyPr/>
        <a:lstStyle/>
        <a:p>
          <a:endParaRPr lang="en-US"/>
        </a:p>
      </dgm:t>
    </dgm:pt>
    <dgm:pt modelId="{C827DD39-B386-40DD-919E-2C881AD9799C}" type="sibTrans" cxnId="{46B1B760-F8BC-4F45-8582-5C0A5DD7DD50}">
      <dgm:prSet/>
      <dgm:spPr/>
      <dgm:t>
        <a:bodyPr/>
        <a:lstStyle/>
        <a:p>
          <a:endParaRPr lang="en-US"/>
        </a:p>
      </dgm:t>
    </dgm:pt>
    <dgm:pt modelId="{B0B8DB81-C390-41DF-AEB2-D28C399358E1}">
      <dgm:prSet/>
      <dgm:spPr/>
      <dgm:t>
        <a:bodyPr/>
        <a:lstStyle/>
        <a:p>
          <a:r>
            <a:rPr lang="es-ES"/>
            <a:t>Capacidades adicionales: inspección profunda de paquetes, inteligencia de amenazas, control de aplicaciones, identificación de usuarios, integración de funcionalidades, arquitectura unificada, análisis de tráfico SSL/TSL, contenedores y orquestadores, escalabilidad y rendimiento, políticas de ZERO TRUST(no se confía automáticamente en ninguna parte de la red) </a:t>
          </a:r>
          <a:endParaRPr lang="en-US"/>
        </a:p>
      </dgm:t>
    </dgm:pt>
    <dgm:pt modelId="{1A155C93-B55F-4176-95B7-4DEFB4962D27}" type="parTrans" cxnId="{8587E133-0E88-4E15-9C07-5703734F9BEA}">
      <dgm:prSet/>
      <dgm:spPr/>
      <dgm:t>
        <a:bodyPr/>
        <a:lstStyle/>
        <a:p>
          <a:endParaRPr lang="en-US"/>
        </a:p>
      </dgm:t>
    </dgm:pt>
    <dgm:pt modelId="{FFCF8AB7-2DCA-46CB-926C-5E33D68B7C03}" type="sibTrans" cxnId="{8587E133-0E88-4E15-9C07-5703734F9BEA}">
      <dgm:prSet/>
      <dgm:spPr/>
      <dgm:t>
        <a:bodyPr/>
        <a:lstStyle/>
        <a:p>
          <a:endParaRPr lang="en-US"/>
        </a:p>
      </dgm:t>
    </dgm:pt>
    <dgm:pt modelId="{9359EEBF-D689-4456-9B4F-4799A5F36F83}" type="pres">
      <dgm:prSet presAssocID="{7EB7AED0-D70E-4685-8B79-96B3C5BCFDD4}" presName="linear" presStyleCnt="0">
        <dgm:presLayoutVars>
          <dgm:animLvl val="lvl"/>
          <dgm:resizeHandles val="exact"/>
        </dgm:presLayoutVars>
      </dgm:prSet>
      <dgm:spPr/>
    </dgm:pt>
    <dgm:pt modelId="{616517A5-0CDF-48E5-8923-2FFC02084023}" type="pres">
      <dgm:prSet presAssocID="{A60E47BB-D958-4E8C-A7D1-884C8BF2444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C7603E4-1F04-4011-8483-25043FDB2495}" type="pres">
      <dgm:prSet presAssocID="{A60E47BB-D958-4E8C-A7D1-884C8BF2444D}" presName="childText" presStyleLbl="revTx" presStyleIdx="0" presStyleCnt="3">
        <dgm:presLayoutVars>
          <dgm:bulletEnabled val="1"/>
        </dgm:presLayoutVars>
      </dgm:prSet>
      <dgm:spPr/>
    </dgm:pt>
    <dgm:pt modelId="{E4820224-C29E-423A-8D60-9C9AD8DC7A7C}" type="pres">
      <dgm:prSet presAssocID="{C44D507C-2F13-470E-AF5A-34DEA3C9BFA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1B0FAD2-D410-4D76-9A32-11133A79B903}" type="pres">
      <dgm:prSet presAssocID="{C44D507C-2F13-470E-AF5A-34DEA3C9BFAC}" presName="childText" presStyleLbl="revTx" presStyleIdx="1" presStyleCnt="3">
        <dgm:presLayoutVars>
          <dgm:bulletEnabled val="1"/>
        </dgm:presLayoutVars>
      </dgm:prSet>
      <dgm:spPr/>
    </dgm:pt>
    <dgm:pt modelId="{6542C7D4-8B29-41AC-A80A-9B6315C378C9}" type="pres">
      <dgm:prSet presAssocID="{AFAD9F20-5677-45CD-9996-23EE293D199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E3A7A9E-50C8-484C-9B15-55D1AD71F530}" type="pres">
      <dgm:prSet presAssocID="{ADB0110D-6D82-432B-9A79-F81C63738D6C}" presName="spacer" presStyleCnt="0"/>
      <dgm:spPr/>
    </dgm:pt>
    <dgm:pt modelId="{8F7F8033-7D19-4116-9EB2-7FEA5FF3AF3B}" type="pres">
      <dgm:prSet presAssocID="{1250754A-A53B-4373-9E86-19C39A23009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88C0BE3-454D-4E5B-B7BB-52DDDED35E5D}" type="pres">
      <dgm:prSet presAssocID="{1250754A-A53B-4373-9E86-19C39A23009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3D55B07-DD24-43C8-B080-218A4B70B4C7}" srcId="{7EB7AED0-D70E-4685-8B79-96B3C5BCFDD4}" destId="{AFAD9F20-5677-45CD-9996-23EE293D199D}" srcOrd="2" destOrd="0" parTransId="{EAA23404-0531-4C69-B5E1-68E4DE5E50BF}" sibTransId="{ADB0110D-6D82-432B-9A79-F81C63738D6C}"/>
    <dgm:cxn modelId="{1D890317-3F64-4D20-8F92-07C93FA975E6}" srcId="{7EB7AED0-D70E-4685-8B79-96B3C5BCFDD4}" destId="{C44D507C-2F13-470E-AF5A-34DEA3C9BFAC}" srcOrd="1" destOrd="0" parTransId="{C933C5FC-5C6D-4219-8B03-89BEBD7BA483}" sibTransId="{6A0A2D4F-720A-4538-A921-FBF4852FC245}"/>
    <dgm:cxn modelId="{8587E133-0E88-4E15-9C07-5703734F9BEA}" srcId="{1250754A-A53B-4373-9E86-19C39A23009B}" destId="{B0B8DB81-C390-41DF-AEB2-D28C399358E1}" srcOrd="0" destOrd="0" parTransId="{1A155C93-B55F-4176-95B7-4DEFB4962D27}" sibTransId="{FFCF8AB7-2DCA-46CB-926C-5E33D68B7C03}"/>
    <dgm:cxn modelId="{67F1A136-D793-40C5-AD92-1605575D23B7}" srcId="{C57CCA28-559F-4772-A10E-DFCB5B5FADA5}" destId="{85279791-D8E1-48BF-95E3-BC141E71C154}" srcOrd="0" destOrd="0" parTransId="{ED4C2EAE-BBAA-4EE6-9B14-D93DE7C885BE}" sibTransId="{77B50A5F-BF8F-4EA0-B3E7-153B99D6FE9D}"/>
    <dgm:cxn modelId="{E48AD537-02BA-4AFA-BD8E-4A462E5226F6}" type="presOf" srcId="{B7622D56-6827-4580-9322-FCC870DAAC37}" destId="{EC7603E4-1F04-4011-8483-25043FDB2495}" srcOrd="0" destOrd="0" presId="urn:microsoft.com/office/officeart/2005/8/layout/vList2"/>
    <dgm:cxn modelId="{46B1B760-F8BC-4F45-8582-5C0A5DD7DD50}" srcId="{7EB7AED0-D70E-4685-8B79-96B3C5BCFDD4}" destId="{1250754A-A53B-4373-9E86-19C39A23009B}" srcOrd="3" destOrd="0" parTransId="{DB3D19DD-47D0-4ADE-BA99-4B2596E498EB}" sibTransId="{C827DD39-B386-40DD-919E-2C881AD9799C}"/>
    <dgm:cxn modelId="{A2DE8861-041A-4812-8C80-81AC56734B7B}" srcId="{B7622D56-6827-4580-9322-FCC870DAAC37}" destId="{C406FDF4-B09F-4080-8180-E6C7B0B6AE96}" srcOrd="0" destOrd="0" parTransId="{150F1EB9-FA9C-4FD7-AB4C-B7D34424D5D0}" sibTransId="{69C047C3-FCCF-4FBB-BC07-590BFE29ED3A}"/>
    <dgm:cxn modelId="{94379145-FBD1-41DF-990E-97EBF01E0831}" type="presOf" srcId="{C57CCA28-559F-4772-A10E-DFCB5B5FADA5}" destId="{EC7603E4-1F04-4011-8483-25043FDB2495}" srcOrd="0" destOrd="2" presId="urn:microsoft.com/office/officeart/2005/8/layout/vList2"/>
    <dgm:cxn modelId="{330E0674-D61C-4DDF-A774-9B8508DE4EFA}" type="presOf" srcId="{C406FDF4-B09F-4080-8180-E6C7B0B6AE96}" destId="{EC7603E4-1F04-4011-8483-25043FDB2495}" srcOrd="0" destOrd="1" presId="urn:microsoft.com/office/officeart/2005/8/layout/vList2"/>
    <dgm:cxn modelId="{21454554-13A1-4E45-B436-532256F5217D}" type="presOf" srcId="{B0B8DB81-C390-41DF-AEB2-D28C399358E1}" destId="{288C0BE3-454D-4E5B-B7BB-52DDDED35E5D}" srcOrd="0" destOrd="0" presId="urn:microsoft.com/office/officeart/2005/8/layout/vList2"/>
    <dgm:cxn modelId="{EB02505A-F34C-4F40-B92D-102ECDC77CEE}" type="presOf" srcId="{6D721781-43FF-419A-8792-BC92CFF81BF3}" destId="{F1B0FAD2-D410-4D76-9A32-11133A79B903}" srcOrd="0" destOrd="0" presId="urn:microsoft.com/office/officeart/2005/8/layout/vList2"/>
    <dgm:cxn modelId="{6364E37C-7278-41CE-B544-AC1C41F0BC24}" type="presOf" srcId="{85279791-D8E1-48BF-95E3-BC141E71C154}" destId="{EC7603E4-1F04-4011-8483-25043FDB2495}" srcOrd="0" destOrd="3" presId="urn:microsoft.com/office/officeart/2005/8/layout/vList2"/>
    <dgm:cxn modelId="{80BFCF8A-1A06-4F1A-9C30-E0DA93A796FC}" type="presOf" srcId="{A60E47BB-D958-4E8C-A7D1-884C8BF2444D}" destId="{616517A5-0CDF-48E5-8923-2FFC02084023}" srcOrd="0" destOrd="0" presId="urn:microsoft.com/office/officeart/2005/8/layout/vList2"/>
    <dgm:cxn modelId="{F5DEA393-A590-43D3-94D8-95BD4E3BE40A}" type="presOf" srcId="{AFAD9F20-5677-45CD-9996-23EE293D199D}" destId="{6542C7D4-8B29-41AC-A80A-9B6315C378C9}" srcOrd="0" destOrd="0" presId="urn:microsoft.com/office/officeart/2005/8/layout/vList2"/>
    <dgm:cxn modelId="{703A1D99-E68B-4EC1-BF6F-727293EABB56}" type="presOf" srcId="{7EB7AED0-D70E-4685-8B79-96B3C5BCFDD4}" destId="{9359EEBF-D689-4456-9B4F-4799A5F36F83}" srcOrd="0" destOrd="0" presId="urn:microsoft.com/office/officeart/2005/8/layout/vList2"/>
    <dgm:cxn modelId="{D11457AA-3670-4BCA-9D81-50797C53999E}" type="presOf" srcId="{1250754A-A53B-4373-9E86-19C39A23009B}" destId="{8F7F8033-7D19-4116-9EB2-7FEA5FF3AF3B}" srcOrd="0" destOrd="0" presId="urn:microsoft.com/office/officeart/2005/8/layout/vList2"/>
    <dgm:cxn modelId="{DEF18CB7-EDBF-4D98-834C-F943E7319BC3}" srcId="{A60E47BB-D958-4E8C-A7D1-884C8BF2444D}" destId="{C57CCA28-559F-4772-A10E-DFCB5B5FADA5}" srcOrd="1" destOrd="0" parTransId="{4E653934-70BE-4025-A1D4-6577D34F5A65}" sibTransId="{70923830-16DC-4D99-9456-A7B0665D7854}"/>
    <dgm:cxn modelId="{386D40BF-3543-45DE-86C2-E6D00492B94B}" type="presOf" srcId="{C44D507C-2F13-470E-AF5A-34DEA3C9BFAC}" destId="{E4820224-C29E-423A-8D60-9C9AD8DC7A7C}" srcOrd="0" destOrd="0" presId="urn:microsoft.com/office/officeart/2005/8/layout/vList2"/>
    <dgm:cxn modelId="{5AD22AF0-2464-4E4E-B1D8-E3E84DC08859}" srcId="{A60E47BB-D958-4E8C-A7D1-884C8BF2444D}" destId="{B7622D56-6827-4580-9322-FCC870DAAC37}" srcOrd="0" destOrd="0" parTransId="{73C334CE-CAB8-49BB-A766-E8F8D55151BB}" sibTransId="{BF81DA01-2D75-411E-8546-AA9948D3CAAC}"/>
    <dgm:cxn modelId="{579138F3-7EF7-43F6-AA9A-0E22F79816F0}" srcId="{C44D507C-2F13-470E-AF5A-34DEA3C9BFAC}" destId="{6D721781-43FF-419A-8792-BC92CFF81BF3}" srcOrd="0" destOrd="0" parTransId="{DA3994D9-5454-4124-B0E2-885B73A8C9FE}" sibTransId="{79770A48-47D5-4DDE-8D7C-1B2B083802D5}"/>
    <dgm:cxn modelId="{582DE8F4-AD8D-4B26-85C2-F0B2D03B9249}" srcId="{7EB7AED0-D70E-4685-8B79-96B3C5BCFDD4}" destId="{A60E47BB-D958-4E8C-A7D1-884C8BF2444D}" srcOrd="0" destOrd="0" parTransId="{FCC14229-832C-4EAA-8116-7384E7D1B24D}" sibTransId="{56A66B85-A87D-48F3-A3D5-4BAB69658370}"/>
    <dgm:cxn modelId="{B2EABDD1-8ACC-4924-A458-9C1079849969}" type="presParOf" srcId="{9359EEBF-D689-4456-9B4F-4799A5F36F83}" destId="{616517A5-0CDF-48E5-8923-2FFC02084023}" srcOrd="0" destOrd="0" presId="urn:microsoft.com/office/officeart/2005/8/layout/vList2"/>
    <dgm:cxn modelId="{BFB77895-D8CB-4D42-84E9-A8511912DE1F}" type="presParOf" srcId="{9359EEBF-D689-4456-9B4F-4799A5F36F83}" destId="{EC7603E4-1F04-4011-8483-25043FDB2495}" srcOrd="1" destOrd="0" presId="urn:microsoft.com/office/officeart/2005/8/layout/vList2"/>
    <dgm:cxn modelId="{23DA03A1-8EBD-49CD-8945-901E605EF267}" type="presParOf" srcId="{9359EEBF-D689-4456-9B4F-4799A5F36F83}" destId="{E4820224-C29E-423A-8D60-9C9AD8DC7A7C}" srcOrd="2" destOrd="0" presId="urn:microsoft.com/office/officeart/2005/8/layout/vList2"/>
    <dgm:cxn modelId="{EA89C0E2-A277-437A-AE19-D174CEE607DB}" type="presParOf" srcId="{9359EEBF-D689-4456-9B4F-4799A5F36F83}" destId="{F1B0FAD2-D410-4D76-9A32-11133A79B903}" srcOrd="3" destOrd="0" presId="urn:microsoft.com/office/officeart/2005/8/layout/vList2"/>
    <dgm:cxn modelId="{61BBC356-1F7F-45B9-B0A7-D4E07692533D}" type="presParOf" srcId="{9359EEBF-D689-4456-9B4F-4799A5F36F83}" destId="{6542C7D4-8B29-41AC-A80A-9B6315C378C9}" srcOrd="4" destOrd="0" presId="urn:microsoft.com/office/officeart/2005/8/layout/vList2"/>
    <dgm:cxn modelId="{1D57579B-7C35-480D-9E2B-6EF6211CAFF8}" type="presParOf" srcId="{9359EEBF-D689-4456-9B4F-4799A5F36F83}" destId="{FE3A7A9E-50C8-484C-9B15-55D1AD71F530}" srcOrd="5" destOrd="0" presId="urn:microsoft.com/office/officeart/2005/8/layout/vList2"/>
    <dgm:cxn modelId="{4FBF78D2-1110-4B66-A53C-8483B4742B2D}" type="presParOf" srcId="{9359EEBF-D689-4456-9B4F-4799A5F36F83}" destId="{8F7F8033-7D19-4116-9EB2-7FEA5FF3AF3B}" srcOrd="6" destOrd="0" presId="urn:microsoft.com/office/officeart/2005/8/layout/vList2"/>
    <dgm:cxn modelId="{659F53B8-0D50-4BCA-A172-0154E6A5138A}" type="presParOf" srcId="{9359EEBF-D689-4456-9B4F-4799A5F36F83}" destId="{288C0BE3-454D-4E5B-B7BB-52DDDED35E5D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BAE0D2-0F13-4672-B538-DAFD8899A891}">
      <dsp:nvSpPr>
        <dsp:cNvPr id="0" name=""/>
        <dsp:cNvSpPr/>
      </dsp:nvSpPr>
      <dsp:spPr>
        <a:xfrm>
          <a:off x="0" y="76283"/>
          <a:ext cx="5788152" cy="1064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Permite un control granular sobre el trafico de red</a:t>
          </a:r>
          <a:endParaRPr lang="en-US" sz="2600" kern="1200"/>
        </a:p>
      </dsp:txBody>
      <dsp:txXfrm>
        <a:off x="51974" y="128257"/>
        <a:ext cx="5684204" cy="960752"/>
      </dsp:txXfrm>
    </dsp:sp>
    <dsp:sp modelId="{7ADBEC3D-0F70-418C-AC7F-E67AA6DEE635}">
      <dsp:nvSpPr>
        <dsp:cNvPr id="0" name=""/>
        <dsp:cNvSpPr/>
      </dsp:nvSpPr>
      <dsp:spPr>
        <a:xfrm>
          <a:off x="0" y="1215864"/>
          <a:ext cx="5788152" cy="1064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Se parte de la premisa de que nada se permite</a:t>
          </a:r>
          <a:endParaRPr lang="en-US" sz="2600" kern="1200"/>
        </a:p>
      </dsp:txBody>
      <dsp:txXfrm>
        <a:off x="51974" y="1267838"/>
        <a:ext cx="5684204" cy="960752"/>
      </dsp:txXfrm>
    </dsp:sp>
    <dsp:sp modelId="{5437191B-72A3-49DE-A6AA-1B363283E766}">
      <dsp:nvSpPr>
        <dsp:cNvPr id="0" name=""/>
        <dsp:cNvSpPr/>
      </dsp:nvSpPr>
      <dsp:spPr>
        <a:xfrm>
          <a:off x="0" y="2355444"/>
          <a:ext cx="5788152" cy="1064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Se evita tener configuraciones descuidadas en la red.</a:t>
          </a:r>
          <a:endParaRPr lang="en-US" sz="2600" kern="1200"/>
        </a:p>
      </dsp:txBody>
      <dsp:txXfrm>
        <a:off x="51974" y="2407418"/>
        <a:ext cx="5684204" cy="960752"/>
      </dsp:txXfrm>
    </dsp:sp>
    <dsp:sp modelId="{DE420971-2CC8-4184-82F2-9948C4E3C935}">
      <dsp:nvSpPr>
        <dsp:cNvPr id="0" name=""/>
        <dsp:cNvSpPr/>
      </dsp:nvSpPr>
      <dsp:spPr>
        <a:xfrm>
          <a:off x="0" y="3495024"/>
          <a:ext cx="5788152" cy="1064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Agregar reglas especificas para permitir el trafico</a:t>
          </a:r>
          <a:endParaRPr lang="en-US" sz="2600" kern="1200"/>
        </a:p>
      </dsp:txBody>
      <dsp:txXfrm>
        <a:off x="51974" y="3546998"/>
        <a:ext cx="5684204" cy="9607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517A5-0CDF-48E5-8923-2FFC02084023}">
      <dsp:nvSpPr>
        <dsp:cNvPr id="0" name=""/>
        <dsp:cNvSpPr/>
      </dsp:nvSpPr>
      <dsp:spPr>
        <a:xfrm>
          <a:off x="0" y="308186"/>
          <a:ext cx="7159752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/>
            <a:t>Cortafuegos de estado de inspección profunda</a:t>
          </a:r>
          <a:endParaRPr lang="en-US" sz="1900" kern="1200"/>
        </a:p>
      </dsp:txBody>
      <dsp:txXfrm>
        <a:off x="22789" y="330975"/>
        <a:ext cx="7114174" cy="421252"/>
      </dsp:txXfrm>
    </dsp:sp>
    <dsp:sp modelId="{EC7603E4-1F04-4011-8483-25043FDB2495}">
      <dsp:nvSpPr>
        <dsp:cNvPr id="0" name=""/>
        <dsp:cNvSpPr/>
      </dsp:nvSpPr>
      <dsp:spPr>
        <a:xfrm>
          <a:off x="0" y="775017"/>
          <a:ext cx="7159752" cy="1730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322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Forma de funcionar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Examina el contenido al completo de los paquetes, evalúa el contexto de las aplicaciones, filtra por contenido y por el contexto de las conexiones, mantiene un registro detallado de las conexiones de red.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Componentes de esta arquitectura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Proxy inverso, análisis de trafico, reglas de seguridad, actualizaciones de firmas, informes y registros</a:t>
          </a:r>
          <a:endParaRPr lang="en-US" sz="1500" kern="1200"/>
        </a:p>
      </dsp:txBody>
      <dsp:txXfrm>
        <a:off x="0" y="775017"/>
        <a:ext cx="7159752" cy="1730519"/>
      </dsp:txXfrm>
    </dsp:sp>
    <dsp:sp modelId="{E4820224-C29E-423A-8D60-9C9AD8DC7A7C}">
      <dsp:nvSpPr>
        <dsp:cNvPr id="0" name=""/>
        <dsp:cNvSpPr/>
      </dsp:nvSpPr>
      <dsp:spPr>
        <a:xfrm>
          <a:off x="0" y="2505536"/>
          <a:ext cx="7159752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/>
            <a:t>Cortafuegos de segmentación de red</a:t>
          </a:r>
          <a:endParaRPr lang="en-US" sz="1900" kern="1200"/>
        </a:p>
      </dsp:txBody>
      <dsp:txXfrm>
        <a:off x="22789" y="2528325"/>
        <a:ext cx="7114174" cy="421252"/>
      </dsp:txXfrm>
    </dsp:sp>
    <dsp:sp modelId="{F1B0FAD2-D410-4D76-9A32-11133A79B903}">
      <dsp:nvSpPr>
        <dsp:cNvPr id="0" name=""/>
        <dsp:cNvSpPr/>
      </dsp:nvSpPr>
      <dsp:spPr>
        <a:xfrm>
          <a:off x="0" y="2972366"/>
          <a:ext cx="7159752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322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Puede haber segmentación física o lógica.</a:t>
          </a:r>
          <a:endParaRPr lang="en-US" sz="1500" kern="1200"/>
        </a:p>
      </dsp:txBody>
      <dsp:txXfrm>
        <a:off x="0" y="2972366"/>
        <a:ext cx="7159752" cy="314640"/>
      </dsp:txXfrm>
    </dsp:sp>
    <dsp:sp modelId="{6542C7D4-8B29-41AC-A80A-9B6315C378C9}">
      <dsp:nvSpPr>
        <dsp:cNvPr id="0" name=""/>
        <dsp:cNvSpPr/>
      </dsp:nvSpPr>
      <dsp:spPr>
        <a:xfrm>
          <a:off x="0" y="3287006"/>
          <a:ext cx="7159752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/>
            <a:t>Cortafuegos distribuido.</a:t>
          </a:r>
          <a:endParaRPr lang="en-US" sz="1900" kern="1200"/>
        </a:p>
      </dsp:txBody>
      <dsp:txXfrm>
        <a:off x="22789" y="3309795"/>
        <a:ext cx="7114174" cy="421252"/>
      </dsp:txXfrm>
    </dsp:sp>
    <dsp:sp modelId="{8F7F8033-7D19-4116-9EB2-7FEA5FF3AF3B}">
      <dsp:nvSpPr>
        <dsp:cNvPr id="0" name=""/>
        <dsp:cNvSpPr/>
      </dsp:nvSpPr>
      <dsp:spPr>
        <a:xfrm>
          <a:off x="0" y="3808556"/>
          <a:ext cx="7159752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/>
            <a:t>Cortafuegos de próxima generación</a:t>
          </a:r>
          <a:endParaRPr lang="en-US" sz="1900" kern="1200"/>
        </a:p>
      </dsp:txBody>
      <dsp:txXfrm>
        <a:off x="22789" y="3831345"/>
        <a:ext cx="7114174" cy="421252"/>
      </dsp:txXfrm>
    </dsp:sp>
    <dsp:sp modelId="{288C0BE3-454D-4E5B-B7BB-52DDDED35E5D}">
      <dsp:nvSpPr>
        <dsp:cNvPr id="0" name=""/>
        <dsp:cNvSpPr/>
      </dsp:nvSpPr>
      <dsp:spPr>
        <a:xfrm>
          <a:off x="0" y="4275386"/>
          <a:ext cx="7159752" cy="114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322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Capacidades adicionales: inspección profunda de paquetes, inteligencia de amenazas, control de aplicaciones, identificación de usuarios, integración de funcionalidades, arquitectura unificada, análisis de tráfico SSL/TSL, contenedores y orquestadores, escalabilidad y rendimiento, políticas de ZERO TRUST(no se confía automáticamente en ninguna parte de la red) </a:t>
          </a:r>
          <a:endParaRPr lang="en-US" sz="1500" kern="1200"/>
        </a:p>
      </dsp:txBody>
      <dsp:txXfrm>
        <a:off x="0" y="4275386"/>
        <a:ext cx="7159752" cy="1140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06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79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32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862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97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93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28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77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90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8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03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66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95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71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16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363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744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737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615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74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08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987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56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41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495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08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057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456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5268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118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262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516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408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774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86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5513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3622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20834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88849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0324041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8698589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9583353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173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466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550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426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782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864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828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5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53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38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2" r:id="rId2"/>
    <p:sldLayoutId id="2147483814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  <p:sldLayoutId id="2147483792" r:id="rId33"/>
    <p:sldLayoutId id="2147483793" r:id="rId34"/>
    <p:sldLayoutId id="2147483794" r:id="rId35"/>
    <p:sldLayoutId id="2147483795" r:id="rId36"/>
    <p:sldLayoutId id="2147483796" r:id="rId37"/>
    <p:sldLayoutId id="2147483797" r:id="rId38"/>
    <p:sldLayoutId id="2147483798" r:id="rId39"/>
    <p:sldLayoutId id="2147483799" r:id="rId40"/>
    <p:sldLayoutId id="2147483800" r:id="rId41"/>
    <p:sldLayoutId id="2147483801" r:id="rId42"/>
    <p:sldLayoutId id="2147483802" r:id="rId43"/>
    <p:sldLayoutId id="2147483803" r:id="rId44"/>
    <p:sldLayoutId id="2147483804" r:id="rId45"/>
    <p:sldLayoutId id="2147483805" r:id="rId46"/>
    <p:sldLayoutId id="2147483806" r:id="rId47"/>
    <p:sldLayoutId id="2147483807" r:id="rId48"/>
    <p:sldLayoutId id="2147483808" r:id="rId49"/>
    <p:sldLayoutId id="2147483809" r:id="rId50"/>
    <p:sldLayoutId id="2147483810" r:id="rId51"/>
    <p:sldLayoutId id="2147483811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guridadjabali.com/2012/10/firewall-de-windows-desde-shell.html" TargetMode="External"/><Relationship Id="rId7" Type="http://schemas.openxmlformats.org/officeDocument/2006/relationships/hyperlink" Target="https://creativecommons.org/licenses/by/3.0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lickr.com/photos/purpleslog/2870445268/" TargetMode="External"/><Relationship Id="rId5" Type="http://schemas.openxmlformats.org/officeDocument/2006/relationships/image" Target="../media/image10.jpg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ivateinternetaccess.com/blog/how-does-a-firewall-work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creativecommons.org/licenses/by-sa/3.0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uskaditecnologia.com/la-importancia-de-la-ciberseguridad-en-la-industria-4-0/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creativecommons.org/licenses/by-nc-sa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31224-28E5-A011-6F14-9413962E4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/>
          <a:p>
            <a:r>
              <a:rPr lang="es-ES" sz="3400" err="1"/>
              <a:t>descripcion</a:t>
            </a:r>
            <a:r>
              <a:rPr lang="es-ES" sz="3400"/>
              <a:t> de los aspectos sobre cortafuegos en auditorias de sistemas </a:t>
            </a:r>
            <a:r>
              <a:rPr lang="es-ES" sz="3400" err="1"/>
              <a:t>informaticos</a:t>
            </a:r>
            <a:endParaRPr lang="es-ES" sz="340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31D93D-F46E-8A9F-9A21-A431E12B2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Marcador de posición de imagen 4" descr="Imagen que contiene pizza, sostener, sartén, alimentos&#10;&#10;El contenido generado por IA puede ser incorrecto.">
            <a:extLst>
              <a:ext uri="{FF2B5EF4-FFF2-40B4-BE49-F238E27FC236}">
                <a16:creationId xmlns:a16="http://schemas.microsoft.com/office/drawing/2014/main" id="{8BD91610-5C34-A135-ADFC-3ADA13E4DF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341" r="18341"/>
          <a:stretch>
            <a:fillRect/>
          </a:stretch>
        </p:blipFill>
        <p:spPr>
          <a:xfrm>
            <a:off x="7989916" y="919891"/>
            <a:ext cx="4196762" cy="4732070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D8CDBD0-07E7-4B6B-9455-0D7E7C357B27}"/>
              </a:ext>
            </a:extLst>
          </p:cNvPr>
          <p:cNvSpPr txBox="1"/>
          <p:nvPr/>
        </p:nvSpPr>
        <p:spPr>
          <a:xfrm>
            <a:off x="8654734" y="5712097"/>
            <a:ext cx="35319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>
                <a:hlinkClick r:id="rId3" tooltip="https://www.seguridadjabali.com/2012/10/firewall-de-windows-desde-shell.html"/>
              </a:rPr>
              <a:t>Esta foto</a:t>
            </a:r>
            <a:r>
              <a:rPr lang="es-ES" sz="900"/>
              <a:t> de Autor desconocido está bajo licencia </a:t>
            </a:r>
            <a:r>
              <a:rPr lang="es-ES" sz="900">
                <a:hlinkClick r:id="rId4" tooltip="https://creativecommons.org/licenses/by-nc/3.0/"/>
              </a:rPr>
              <a:t>CC BY-NC</a:t>
            </a:r>
            <a:endParaRPr lang="es-ES" sz="900"/>
          </a:p>
        </p:txBody>
      </p:sp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9665A25D-33A6-D89C-D265-22ED1661DC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100168" y="2104103"/>
            <a:ext cx="3521759" cy="22468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E57BFC0-C61E-ABA3-757F-30835D216954}"/>
              </a:ext>
            </a:extLst>
          </p:cNvPr>
          <p:cNvSpPr txBox="1"/>
          <p:nvPr/>
        </p:nvSpPr>
        <p:spPr>
          <a:xfrm>
            <a:off x="5658058" y="4411121"/>
            <a:ext cx="296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>
                <a:hlinkClick r:id="rId6" tooltip="https://www.flickr.com/photos/purpleslog/2870445268/"/>
              </a:rPr>
              <a:t>Esta foto</a:t>
            </a:r>
            <a:r>
              <a:rPr lang="es-ES" sz="900"/>
              <a:t> de Autor desconocido está bajo licencia </a:t>
            </a:r>
            <a:r>
              <a:rPr lang="es-ES" sz="900">
                <a:hlinkClick r:id="rId7" tooltip="https://creativecommons.org/licenses/by/3.0/"/>
              </a:rPr>
              <a:t>CC BY</a:t>
            </a:r>
            <a:endParaRPr lang="es-ES" sz="900"/>
          </a:p>
        </p:txBody>
      </p:sp>
    </p:spTree>
    <p:extLst>
      <p:ext uri="{BB962C8B-B14F-4D97-AF65-F5344CB8AC3E}">
        <p14:creationId xmlns:p14="http://schemas.microsoft.com/office/powerpoint/2010/main" val="3340921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13EBB-2463-2C01-BD1C-D12C1888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/>
          <a:p>
            <a:r>
              <a:rPr lang="es-ES" dirty="0" err="1"/>
              <a:t>indice</a:t>
            </a:r>
            <a:endParaRPr lang="es-ES" dirty="0"/>
          </a:p>
        </p:txBody>
      </p:sp>
      <p:pic>
        <p:nvPicPr>
          <p:cNvPr id="5" name="Picture 4" descr="Vista superior de cubos conectados con líneas negras">
            <a:extLst>
              <a:ext uri="{FF2B5EF4-FFF2-40B4-BE49-F238E27FC236}">
                <a16:creationId xmlns:a16="http://schemas.microsoft.com/office/drawing/2014/main" id="{2C8D0CC7-6410-23B5-ECF0-3097A919EE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26" r="4001" b="-2"/>
          <a:stretch>
            <a:fillRect/>
          </a:stretch>
        </p:blipFill>
        <p:spPr>
          <a:xfrm>
            <a:off x="20" y="10"/>
            <a:ext cx="7002444" cy="639914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2D3BE0-125B-6F0D-3DBE-D353CD3096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sz="1500" dirty="0"/>
              <a:t>5.1. Principios generales de cortafuegos</a:t>
            </a:r>
            <a:br>
              <a:rPr lang="es-ES" sz="1500" dirty="0"/>
            </a:br>
            <a:r>
              <a:rPr lang="es-ES" sz="1500" dirty="0"/>
              <a:t>5.2. Componentes de un cortafuegos de red</a:t>
            </a:r>
            <a:br>
              <a:rPr lang="es-ES" sz="1500" dirty="0"/>
            </a:br>
            <a:r>
              <a:rPr lang="es-ES" sz="1500" dirty="0"/>
              <a:t>5.3. Relación de los distintos tipos de cortafuegos por ubicación y funcionalidad</a:t>
            </a:r>
            <a:br>
              <a:rPr lang="es-ES" sz="1500" dirty="0"/>
            </a:br>
            <a:r>
              <a:rPr lang="es-ES" sz="1500" dirty="0"/>
              <a:t>5.4. Arquitecturas de cortafuegos de red</a:t>
            </a:r>
            <a:br>
              <a:rPr lang="es-ES" sz="1500" dirty="0"/>
            </a:br>
            <a:r>
              <a:rPr lang="es-ES" sz="1500" dirty="0"/>
              <a:t>5.5. Otras arquitecturas de cortafuegos de red</a:t>
            </a:r>
          </a:p>
        </p:txBody>
      </p:sp>
    </p:spTree>
    <p:extLst>
      <p:ext uri="{BB962C8B-B14F-4D97-AF65-F5344CB8AC3E}">
        <p14:creationId xmlns:p14="http://schemas.microsoft.com/office/powerpoint/2010/main" val="1848116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C34A8-9E22-926E-BB2A-428723FAB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/>
          <a:p>
            <a:r>
              <a:rPr lang="es-ES"/>
              <a:t>5.1. Principios generales de cortafuegos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6502B7E-6039-F795-0FAC-CB2E81DDA6A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99634835"/>
              </p:ext>
            </p:extLst>
          </p:nvPr>
        </p:nvGraphicFramePr>
        <p:xfrm>
          <a:off x="5422392" y="1600200"/>
          <a:ext cx="5788152" cy="4636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0898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E19A2A9-F33D-1E52-6CC7-8A0FDCAD0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>
            <a:normAutofit/>
          </a:bodyPr>
          <a:lstStyle/>
          <a:p>
            <a:r>
              <a:rPr lang="es-ES" dirty="0"/>
              <a:t>Principios:</a:t>
            </a:r>
            <a:br>
              <a:rPr lang="es-ES" dirty="0"/>
            </a:br>
            <a:endParaRPr lang="en-US" dirty="0"/>
          </a:p>
        </p:txBody>
      </p:sp>
      <p:pic>
        <p:nvPicPr>
          <p:cNvPr id="12" name="Picture 11" descr="Un patrón en 3D de formas de anillos conectados por líneas">
            <a:extLst>
              <a:ext uri="{FF2B5EF4-FFF2-40B4-BE49-F238E27FC236}">
                <a16:creationId xmlns:a16="http://schemas.microsoft.com/office/drawing/2014/main" id="{4D87B86D-DD35-7363-AA59-4E112CBCA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20" r="37442" b="-1"/>
          <a:stretch>
            <a:fillRect/>
          </a:stretch>
        </p:blipFill>
        <p:spPr>
          <a:xfrm>
            <a:off x="20" y="1"/>
            <a:ext cx="659128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C89F22-A1AC-1263-F64B-1E79185C6B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>
            <a:normAutofit/>
          </a:bodyPr>
          <a:lstStyle/>
          <a:p>
            <a:pPr lvl="1">
              <a:lnSpc>
                <a:spcPct val="110000"/>
              </a:lnSpc>
            </a:pPr>
            <a:r>
              <a:rPr lang="es-ES" sz="1000"/>
              <a:t>Principio de mínimo privilegio</a:t>
            </a:r>
          </a:p>
          <a:p>
            <a:pPr lvl="1">
              <a:lnSpc>
                <a:spcPct val="110000"/>
              </a:lnSpc>
            </a:pPr>
            <a:r>
              <a:rPr lang="es-ES" sz="1000"/>
              <a:t>Principio de inspección y filtrado</a:t>
            </a:r>
          </a:p>
          <a:p>
            <a:pPr lvl="1">
              <a:lnSpc>
                <a:spcPct val="110000"/>
              </a:lnSpc>
            </a:pPr>
            <a:r>
              <a:rPr lang="es-ES" sz="1000"/>
              <a:t>Principio de segmentación de redes</a:t>
            </a:r>
          </a:p>
          <a:p>
            <a:pPr lvl="1">
              <a:lnSpc>
                <a:spcPct val="110000"/>
              </a:lnSpc>
            </a:pPr>
            <a:r>
              <a:rPr lang="es-ES" sz="1000"/>
              <a:t>Principio de control de acceso granular</a:t>
            </a:r>
          </a:p>
          <a:p>
            <a:pPr lvl="1">
              <a:lnSpc>
                <a:spcPct val="110000"/>
              </a:lnSpc>
            </a:pPr>
            <a:r>
              <a:rPr lang="es-ES" sz="1000"/>
              <a:t>Principio de </a:t>
            </a:r>
            <a:r>
              <a:rPr lang="es-ES" sz="1000" err="1"/>
              <a:t>logging</a:t>
            </a:r>
            <a:r>
              <a:rPr lang="es-ES" sz="1000"/>
              <a:t> y auditoria</a:t>
            </a:r>
          </a:p>
          <a:p>
            <a:pPr lvl="2">
              <a:lnSpc>
                <a:spcPct val="110000"/>
              </a:lnSpc>
            </a:pPr>
            <a:r>
              <a:rPr lang="es-ES" sz="1000"/>
              <a:t>Eventos relevantes</a:t>
            </a:r>
          </a:p>
          <a:p>
            <a:pPr lvl="2">
              <a:lnSpc>
                <a:spcPct val="110000"/>
              </a:lnSpc>
            </a:pPr>
            <a:r>
              <a:rPr lang="es-ES" sz="1000"/>
              <a:t>Detección de anomalías</a:t>
            </a:r>
          </a:p>
          <a:p>
            <a:pPr lvl="2">
              <a:lnSpc>
                <a:spcPct val="110000"/>
              </a:lnSpc>
            </a:pPr>
            <a:r>
              <a:rPr lang="es-ES" sz="1000"/>
              <a:t>Registro de incidentes</a:t>
            </a:r>
          </a:p>
          <a:p>
            <a:pPr lvl="1">
              <a:lnSpc>
                <a:spcPct val="110000"/>
              </a:lnSpc>
            </a:pPr>
            <a:r>
              <a:rPr lang="es-ES" sz="1000"/>
              <a:t>Principio de actualización continua</a:t>
            </a:r>
          </a:p>
          <a:p>
            <a:pPr lvl="1">
              <a:lnSpc>
                <a:spcPct val="110000"/>
              </a:lnSpc>
            </a:pPr>
            <a:r>
              <a:rPr lang="es-ES" sz="1000"/>
              <a:t>Principio de respaldo y recuperación</a:t>
            </a:r>
          </a:p>
          <a:p>
            <a:pPr lvl="1">
              <a:lnSpc>
                <a:spcPct val="110000"/>
              </a:lnSpc>
            </a:pPr>
            <a:r>
              <a:rPr lang="es-ES" sz="1000"/>
              <a:t>Principio de escalabilidad</a:t>
            </a:r>
          </a:p>
          <a:p>
            <a:pPr lvl="2">
              <a:lnSpc>
                <a:spcPct val="110000"/>
              </a:lnSpc>
            </a:pPr>
            <a:r>
              <a:rPr lang="es-ES" sz="1000"/>
              <a:t>Capacidad de procesamiento, soporte para múltiples conexiones simultaneas, capacidad de balanceo de carga, actualizaciones y parches de seguridad.</a:t>
            </a:r>
          </a:p>
          <a:p>
            <a:pPr lvl="1">
              <a:lnSpc>
                <a:spcPct val="110000"/>
              </a:lnSpc>
            </a:pPr>
            <a:r>
              <a:rPr lang="es-ES" sz="1000"/>
              <a:t>Principio de pruebas y validación</a:t>
            </a:r>
          </a:p>
          <a:p>
            <a:pPr lvl="2">
              <a:lnSpc>
                <a:spcPct val="110000"/>
              </a:lnSpc>
            </a:pPr>
            <a:r>
              <a:rPr lang="es-ES" sz="1000"/>
              <a:t>Verificar la configuración del firewall, realizar pruebas de penetración, monitorear el rendimiento del firewall, analiza los registros del firewall.</a:t>
            </a:r>
          </a:p>
          <a:p>
            <a:pPr lvl="2">
              <a:lnSpc>
                <a:spcPct val="110000"/>
              </a:lnSpc>
            </a:pPr>
            <a:endParaRPr lang="es-ES" sz="1000"/>
          </a:p>
          <a:p>
            <a:pPr>
              <a:lnSpc>
                <a:spcPct val="110000"/>
              </a:lnSpc>
            </a:pPr>
            <a:endParaRPr lang="es-ES" sz="1000"/>
          </a:p>
        </p:txBody>
      </p:sp>
    </p:spTree>
    <p:extLst>
      <p:ext uri="{BB962C8B-B14F-4D97-AF65-F5344CB8AC3E}">
        <p14:creationId xmlns:p14="http://schemas.microsoft.com/office/powerpoint/2010/main" val="364697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8B331-AF2C-6A07-83C7-A02D6B932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>
            <a:normAutofit/>
          </a:bodyPr>
          <a:lstStyle/>
          <a:p>
            <a:r>
              <a:rPr lang="es-ES" sz="2500"/>
              <a:t>5.2. Componentes de un cortafuegos de red</a:t>
            </a:r>
            <a:br>
              <a:rPr lang="es-ES" sz="2500"/>
            </a:br>
            <a:endParaRPr lang="es-ES" sz="2500"/>
          </a:p>
        </p:txBody>
      </p:sp>
      <p:pic>
        <p:nvPicPr>
          <p:cNvPr id="5" name="Marcador de posición de imagen 4" descr="Imagen que contiene texto, periódico&#10;&#10;El contenido generado por IA puede ser incorrecto.">
            <a:extLst>
              <a:ext uri="{FF2B5EF4-FFF2-40B4-BE49-F238E27FC236}">
                <a16:creationId xmlns:a16="http://schemas.microsoft.com/office/drawing/2014/main" id="{1061AAB3-E7BF-0573-EF52-85434215834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32" r="30132"/>
          <a:stretch>
            <a:fillRect/>
          </a:stretch>
        </p:blipFill>
        <p:spPr>
          <a:xfrm>
            <a:off x="0" y="0"/>
            <a:ext cx="4843463" cy="6399213"/>
          </a:xfr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5E8796-F923-03B4-AA97-45F99F7B481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>
            <a:normAutofit/>
          </a:bodyPr>
          <a:lstStyle/>
          <a:p>
            <a:r>
              <a:rPr lang="es-ES" dirty="0"/>
              <a:t>Principales componentes:</a:t>
            </a:r>
          </a:p>
          <a:p>
            <a:pPr lvl="1"/>
            <a:r>
              <a:rPr lang="es-ES" sz="1800"/>
              <a:t>Filtrado de paquetes, </a:t>
            </a:r>
          </a:p>
          <a:p>
            <a:pPr lvl="1"/>
            <a:r>
              <a:rPr lang="es-ES" sz="1800"/>
              <a:t>Proxy de aplicaciones, </a:t>
            </a:r>
          </a:p>
          <a:p>
            <a:pPr lvl="1"/>
            <a:r>
              <a:rPr lang="es-ES" sz="1800"/>
              <a:t>Cortafuegos de estado, </a:t>
            </a:r>
          </a:p>
          <a:p>
            <a:pPr lvl="1"/>
            <a:r>
              <a:rPr lang="es-ES" sz="1800"/>
              <a:t>Listas de control de acceso o ACL, </a:t>
            </a:r>
          </a:p>
          <a:p>
            <a:pPr lvl="1"/>
            <a:r>
              <a:rPr lang="es-ES" sz="1800"/>
              <a:t>VPN, </a:t>
            </a:r>
          </a:p>
          <a:p>
            <a:pPr lvl="1"/>
            <a:r>
              <a:rPr lang="es-ES" sz="1800"/>
              <a:t>Proxy de DNS, </a:t>
            </a:r>
          </a:p>
          <a:p>
            <a:pPr lvl="1"/>
            <a:r>
              <a:rPr lang="es-ES" sz="1800"/>
              <a:t>Balanceo de carga, </a:t>
            </a:r>
          </a:p>
          <a:p>
            <a:pPr lvl="1"/>
            <a:r>
              <a:rPr lang="es-ES" sz="1800"/>
              <a:t>Cifrado y descifrado SSL/TSL, </a:t>
            </a:r>
          </a:p>
          <a:p>
            <a:pPr lvl="1"/>
            <a:r>
              <a:rPr lang="es-ES" sz="1800"/>
              <a:t>Interfaz de usuario, </a:t>
            </a:r>
          </a:p>
          <a:p>
            <a:pPr lvl="1"/>
            <a:r>
              <a:rPr lang="es-ES" sz="1800"/>
              <a:t>Consola de gestión.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09743A5-1B53-E611-DA28-AE2284CE7506}"/>
              </a:ext>
            </a:extLst>
          </p:cNvPr>
          <p:cNvSpPr txBox="1"/>
          <p:nvPr/>
        </p:nvSpPr>
        <p:spPr>
          <a:xfrm>
            <a:off x="0" y="6399213"/>
            <a:ext cx="48434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>
                <a:hlinkClick r:id="rId3" tooltip="http://www.privateinternetaccess.com/blog/how-does-a-firewall-work/"/>
              </a:rPr>
              <a:t>Esta foto</a:t>
            </a:r>
            <a:r>
              <a:rPr lang="es-ES" sz="900"/>
              <a:t> de Autor desconocido está bajo licencia </a:t>
            </a:r>
            <a:r>
              <a:rPr lang="es-ES" sz="900">
                <a:hlinkClick r:id="rId4" tooltip="https://creativecommons.org/licenses/by-sa/3.0/"/>
              </a:rPr>
              <a:t>CC BY-SA</a:t>
            </a:r>
            <a:endParaRPr lang="es-ES" sz="900"/>
          </a:p>
        </p:txBody>
      </p:sp>
    </p:spTree>
    <p:extLst>
      <p:ext uri="{BB962C8B-B14F-4D97-AF65-F5344CB8AC3E}">
        <p14:creationId xmlns:p14="http://schemas.microsoft.com/office/powerpoint/2010/main" val="341517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48C59-0D07-2B60-2D6A-2E0C1773F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>
            <a:normAutofit/>
          </a:bodyPr>
          <a:lstStyle/>
          <a:p>
            <a:r>
              <a:rPr lang="es-ES" sz="1800"/>
              <a:t>5.3. Relación de los distintos tipos de cortafuegos por ubicación y funcionalidad</a:t>
            </a:r>
          </a:p>
        </p:txBody>
      </p:sp>
      <p:pic>
        <p:nvPicPr>
          <p:cNvPr id="5" name="Picture 4" descr="Camión de bomberos aparcado en una estación de bomberos">
            <a:extLst>
              <a:ext uri="{FF2B5EF4-FFF2-40B4-BE49-F238E27FC236}">
                <a16:creationId xmlns:a16="http://schemas.microsoft.com/office/drawing/2014/main" id="{CFA6DA4F-EA43-8D93-31BB-0D3BBA83E9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44" r="12702" b="1"/>
          <a:stretch>
            <a:fillRect/>
          </a:stretch>
        </p:blipFill>
        <p:spPr>
          <a:xfrm>
            <a:off x="20" y="10"/>
            <a:ext cx="6591280" cy="639914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7909E1-F0E4-9123-0CCB-BDFD184B3A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sz="1100" b="1"/>
              <a:t>Según su ubicación</a:t>
            </a:r>
          </a:p>
          <a:p>
            <a:pPr lvl="1">
              <a:lnSpc>
                <a:spcPct val="110000"/>
              </a:lnSpc>
            </a:pPr>
            <a:r>
              <a:rPr lang="es-ES" sz="1100"/>
              <a:t>Cortafuegos de red, cortafuegos de host(Windows firewall), cortafuegos de circuito, cortafuegos de nube.</a:t>
            </a:r>
          </a:p>
          <a:p>
            <a:pPr>
              <a:lnSpc>
                <a:spcPct val="110000"/>
              </a:lnSpc>
            </a:pPr>
            <a:r>
              <a:rPr lang="es-ES" sz="1100"/>
              <a:t>Según su funcionalidad</a:t>
            </a:r>
          </a:p>
          <a:p>
            <a:pPr lvl="1">
              <a:lnSpc>
                <a:spcPct val="110000"/>
              </a:lnSpc>
            </a:pPr>
            <a:r>
              <a:rPr lang="es-ES" sz="1100"/>
              <a:t>Cortafuegos de inspección de paquetes, cortafuegos de inspección activa o de estado.</a:t>
            </a:r>
          </a:p>
          <a:p>
            <a:pPr lvl="1">
              <a:lnSpc>
                <a:spcPct val="110000"/>
              </a:lnSpc>
            </a:pPr>
            <a:r>
              <a:rPr lang="es-ES" sz="1100"/>
              <a:t>Cortafuegos de aplicación:</a:t>
            </a:r>
          </a:p>
          <a:p>
            <a:pPr lvl="2">
              <a:lnSpc>
                <a:spcPct val="110000"/>
              </a:lnSpc>
            </a:pPr>
            <a:r>
              <a:rPr lang="es-ES" sz="1100"/>
              <a:t>Inspección profunda de paquetes, conciencia de aplicaciones especificas, control de acceso granular, filtrado basado en contenidos, protección contra amenazas a nivel de aplicación, seguridad para aplicaciones personalizada.</a:t>
            </a:r>
          </a:p>
          <a:p>
            <a:pPr lvl="1">
              <a:lnSpc>
                <a:spcPct val="110000"/>
              </a:lnSpc>
            </a:pPr>
            <a:r>
              <a:rPr lang="es-ES" sz="1100"/>
              <a:t>Cortafuegos de proxy</a:t>
            </a:r>
          </a:p>
          <a:p>
            <a:pPr lvl="2">
              <a:lnSpc>
                <a:spcPct val="110000"/>
              </a:lnSpc>
            </a:pPr>
            <a:r>
              <a:rPr lang="es-ES" sz="1100"/>
              <a:t>Intermediación entre usuarios y recursos externos, inspección y filtrado de trafico, ocultamiento de dirección </a:t>
            </a:r>
            <a:r>
              <a:rPr lang="es-ES" sz="1100" err="1"/>
              <a:t>ip</a:t>
            </a:r>
            <a:r>
              <a:rPr lang="es-ES" sz="1100"/>
              <a:t>, cache de contenido, control de acceso granular, seguridad SSL/TSL, autenticación de usuarios, filtrado de contenido.</a:t>
            </a:r>
          </a:p>
          <a:p>
            <a:pPr lvl="1">
              <a:lnSpc>
                <a:spcPct val="110000"/>
              </a:lnSpc>
            </a:pPr>
            <a:r>
              <a:rPr lang="es-ES" sz="1100"/>
              <a:t>Cortafuegos de detección y prevención de intrusiones, IDS,IPS</a:t>
            </a:r>
          </a:p>
          <a:p>
            <a:pPr lvl="1">
              <a:lnSpc>
                <a:spcPct val="110000"/>
              </a:lnSpc>
            </a:pPr>
            <a:endParaRPr lang="es-ES" sz="1100"/>
          </a:p>
        </p:txBody>
      </p:sp>
    </p:spTree>
    <p:extLst>
      <p:ext uri="{BB962C8B-B14F-4D97-AF65-F5344CB8AC3E}">
        <p14:creationId xmlns:p14="http://schemas.microsoft.com/office/powerpoint/2010/main" val="3446097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516D0-993A-BB49-A436-121B9C493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>
            <a:normAutofit/>
          </a:bodyPr>
          <a:lstStyle/>
          <a:p>
            <a:r>
              <a:rPr lang="es-ES" dirty="0"/>
              <a:t>5.4. Arquitecturas de cortafuegos de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F47F20-2035-8521-211D-095EF5E5CA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sz="1300" b="1" err="1"/>
              <a:t>Ruter</a:t>
            </a:r>
            <a:r>
              <a:rPr lang="es-ES" sz="1300" b="1"/>
              <a:t> de filtrado</a:t>
            </a:r>
          </a:p>
          <a:p>
            <a:pPr lvl="1">
              <a:lnSpc>
                <a:spcPct val="110000"/>
              </a:lnSpc>
            </a:pPr>
            <a:r>
              <a:rPr lang="es-ES" sz="1300" err="1"/>
              <a:t>Ruter</a:t>
            </a:r>
            <a:r>
              <a:rPr lang="es-ES" sz="1300"/>
              <a:t> de filtrado</a:t>
            </a:r>
          </a:p>
          <a:p>
            <a:pPr lvl="1">
              <a:lnSpc>
                <a:spcPct val="110000"/>
              </a:lnSpc>
            </a:pPr>
            <a:r>
              <a:rPr lang="es-ES" sz="1300"/>
              <a:t>Segmentación de red</a:t>
            </a:r>
          </a:p>
          <a:p>
            <a:pPr lvl="1">
              <a:lnSpc>
                <a:spcPct val="110000"/>
              </a:lnSpc>
            </a:pPr>
            <a:r>
              <a:rPr lang="es-ES" sz="1300"/>
              <a:t>Traducción de direcciones NAT</a:t>
            </a:r>
          </a:p>
          <a:p>
            <a:pPr lvl="1">
              <a:lnSpc>
                <a:spcPct val="110000"/>
              </a:lnSpc>
            </a:pPr>
            <a:r>
              <a:rPr lang="es-ES" sz="1300"/>
              <a:t>Control de acceso y políticas de seguridad</a:t>
            </a:r>
          </a:p>
          <a:p>
            <a:pPr lvl="1">
              <a:lnSpc>
                <a:spcPct val="110000"/>
              </a:lnSpc>
            </a:pPr>
            <a:r>
              <a:rPr lang="es-ES" sz="1300"/>
              <a:t>Protección contra ataques</a:t>
            </a:r>
          </a:p>
          <a:p>
            <a:pPr lvl="1">
              <a:lnSpc>
                <a:spcPct val="110000"/>
              </a:lnSpc>
            </a:pPr>
            <a:r>
              <a:rPr lang="es-ES" sz="1300"/>
              <a:t>Registro de actividad</a:t>
            </a:r>
          </a:p>
          <a:p>
            <a:pPr>
              <a:lnSpc>
                <a:spcPct val="110000"/>
              </a:lnSpc>
            </a:pPr>
            <a:r>
              <a:rPr lang="es-ES" sz="1300" b="1"/>
              <a:t>Host de doble conexión</a:t>
            </a:r>
          </a:p>
          <a:p>
            <a:pPr lvl="1">
              <a:lnSpc>
                <a:spcPct val="110000"/>
              </a:lnSpc>
            </a:pPr>
            <a:r>
              <a:rPr lang="es-ES" sz="1300"/>
              <a:t>Características</a:t>
            </a:r>
          </a:p>
          <a:p>
            <a:pPr lvl="2">
              <a:lnSpc>
                <a:spcPct val="110000"/>
              </a:lnSpc>
            </a:pPr>
            <a:r>
              <a:rPr lang="es-ES" sz="1300"/>
              <a:t>Host intermedio o de doble conexión, cortafuegos de entrada, cortafuegos de salida.</a:t>
            </a:r>
          </a:p>
          <a:p>
            <a:pPr>
              <a:lnSpc>
                <a:spcPct val="110000"/>
              </a:lnSpc>
            </a:pPr>
            <a:r>
              <a:rPr lang="es-ES" sz="1300" b="1"/>
              <a:t>Host protegido</a:t>
            </a:r>
          </a:p>
          <a:p>
            <a:pPr>
              <a:lnSpc>
                <a:spcPct val="110000"/>
              </a:lnSpc>
            </a:pPr>
            <a:r>
              <a:rPr lang="es-ES" sz="1300" b="1"/>
              <a:t>Subred filtrada o protegida</a:t>
            </a:r>
          </a:p>
          <a:p>
            <a:pPr lvl="1">
              <a:lnSpc>
                <a:spcPct val="110000"/>
              </a:lnSpc>
            </a:pPr>
            <a:r>
              <a:rPr lang="es-ES" sz="1300"/>
              <a:t>Componentes(tres segmentos de red, cortafuegos de filtrado, host dedicado de doble conexión)</a:t>
            </a:r>
          </a:p>
          <a:p>
            <a:pPr>
              <a:lnSpc>
                <a:spcPct val="110000"/>
              </a:lnSpc>
            </a:pPr>
            <a:endParaRPr lang="es-ES" sz="1300"/>
          </a:p>
          <a:p>
            <a:pPr lvl="1">
              <a:lnSpc>
                <a:spcPct val="110000"/>
              </a:lnSpc>
            </a:pPr>
            <a:endParaRPr lang="es-ES" sz="1300"/>
          </a:p>
        </p:txBody>
      </p:sp>
      <p:pic>
        <p:nvPicPr>
          <p:cNvPr id="5" name="Marcador de posición de imagen 4" descr="Imagen que contiene electrónica, circuito&#10;&#10;El contenido generado por IA puede ser incorrecto.">
            <a:extLst>
              <a:ext uri="{FF2B5EF4-FFF2-40B4-BE49-F238E27FC236}">
                <a16:creationId xmlns:a16="http://schemas.microsoft.com/office/drawing/2014/main" id="{07A94BCB-2BF2-C053-5829-087EEEF016B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811" r="24811"/>
          <a:stretch>
            <a:fillRect/>
          </a:stretch>
        </p:blipFill>
        <p:spPr>
          <a:xfrm>
            <a:off x="7353300" y="0"/>
            <a:ext cx="4838700" cy="6399213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9E19310-794C-328F-DD20-C1BB829E0D37}"/>
              </a:ext>
            </a:extLst>
          </p:cNvPr>
          <p:cNvSpPr txBox="1"/>
          <p:nvPr/>
        </p:nvSpPr>
        <p:spPr>
          <a:xfrm>
            <a:off x="7353300" y="6399213"/>
            <a:ext cx="48387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>
                <a:hlinkClick r:id="rId3" tooltip="https://www.euskaditecnologia.com/la-importancia-de-la-ciberseguridad-en-la-industria-4-0/"/>
              </a:rPr>
              <a:t>Esta foto</a:t>
            </a:r>
            <a:r>
              <a:rPr lang="es-ES" sz="900"/>
              <a:t> de Autor desconocido está bajo licencia </a:t>
            </a:r>
            <a:r>
              <a:rPr lang="es-ES" sz="900">
                <a:hlinkClick r:id="rId4" tooltip="https://creativecommons.org/licenses/by-nc-sa/3.0/"/>
              </a:rPr>
              <a:t>CC BY-SA-NC</a:t>
            </a:r>
            <a:endParaRPr lang="es-ES" sz="900"/>
          </a:p>
        </p:txBody>
      </p:sp>
    </p:spTree>
    <p:extLst>
      <p:ext uri="{BB962C8B-B14F-4D97-AF65-F5344CB8AC3E}">
        <p14:creationId xmlns:p14="http://schemas.microsoft.com/office/powerpoint/2010/main" val="2543152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E0F8A-1566-1320-47C9-CAC332AAD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/>
          <a:p>
            <a:r>
              <a:rPr lang="es-ES" sz="2700"/>
              <a:t>5.5. Otras arquitecturas de cortafuegos de red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C1CA23F-A784-5FDB-6534-8F192B79A27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47980864"/>
              </p:ext>
            </p:extLst>
          </p:nvPr>
        </p:nvGraphicFramePr>
        <p:xfrm>
          <a:off x="4425696" y="640080"/>
          <a:ext cx="7159752" cy="5724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0797639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666</Words>
  <Application>Microsoft Office PowerPoint</Application>
  <PresentationFormat>Panorámica</PresentationFormat>
  <Paragraphs>74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Oasis</vt:lpstr>
      <vt:lpstr>descripcion de los aspectos sobre cortafuegos en auditorias de sistemas informaticos</vt:lpstr>
      <vt:lpstr>indice</vt:lpstr>
      <vt:lpstr>5.1. Principios generales de cortafuegos</vt:lpstr>
      <vt:lpstr>Principios: </vt:lpstr>
      <vt:lpstr>5.2. Componentes de un cortafuegos de red </vt:lpstr>
      <vt:lpstr>5.3. Relación de los distintos tipos de cortafuegos por ubicación y funcionalidad</vt:lpstr>
      <vt:lpstr>5.4. Arquitecturas de cortafuegos de red</vt:lpstr>
      <vt:lpstr>5.5. Otras arquitecturas de cortafuegos de red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3</cp:revision>
  <dcterms:created xsi:type="dcterms:W3CDTF">2013-01-27T09:14:16Z</dcterms:created>
  <dcterms:modified xsi:type="dcterms:W3CDTF">2025-10-26T17:18:32Z</dcterms:modified>
  <cp:category/>
</cp:coreProperties>
</file>