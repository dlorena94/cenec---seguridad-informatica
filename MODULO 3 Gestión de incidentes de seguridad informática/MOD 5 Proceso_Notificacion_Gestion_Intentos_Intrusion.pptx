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7" d="100"/>
          <a:sy n="97" d="100"/>
        </p:scale>
        <p:origin x="1122" y="30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93BAA6C-F1A8-41C3-A8D0-8D8FA3382A54}" type="doc">
      <dgm:prSet loTypeId="urn:microsoft.com/office/officeart/2005/8/layout/process4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83FA8656-CDB2-4EAF-A3BB-7DEF840E25FA}">
      <dgm:prSet/>
      <dgm:spPr/>
      <dgm:t>
        <a:bodyPr/>
        <a:lstStyle/>
        <a:p>
          <a:r>
            <a:rPr lang="en-US"/>
            <a:t>• Información mínima: fecha, hora, usuario, sistema afectado, descripción.</a:t>
          </a:r>
        </a:p>
      </dgm:t>
    </dgm:pt>
    <dgm:pt modelId="{7B9BEDDC-66B0-440C-8647-00BAFF09E451}" type="parTrans" cxnId="{6EA67F47-9648-417B-96A0-05EC3FBE3487}">
      <dgm:prSet/>
      <dgm:spPr/>
      <dgm:t>
        <a:bodyPr/>
        <a:lstStyle/>
        <a:p>
          <a:endParaRPr lang="en-US"/>
        </a:p>
      </dgm:t>
    </dgm:pt>
    <dgm:pt modelId="{3984B00D-C573-488D-8F86-A8AB008320CD}" type="sibTrans" cxnId="{6EA67F47-9648-417B-96A0-05EC3FBE3487}">
      <dgm:prSet/>
      <dgm:spPr/>
      <dgm:t>
        <a:bodyPr/>
        <a:lstStyle/>
        <a:p>
          <a:endParaRPr lang="en-US"/>
        </a:p>
      </dgm:t>
    </dgm:pt>
    <dgm:pt modelId="{082F03ED-119B-4C34-A841-8868CDC53A36}">
      <dgm:prSet/>
      <dgm:spPr/>
      <dgm:t>
        <a:bodyPr/>
        <a:lstStyle/>
        <a:p>
          <a:r>
            <a:rPr lang="en-US"/>
            <a:t>• Acciones iniciales y responsable.</a:t>
          </a:r>
        </a:p>
      </dgm:t>
    </dgm:pt>
    <dgm:pt modelId="{5D90C5C0-44AA-490A-855B-7D8F9770D9A1}" type="parTrans" cxnId="{64467C8B-0DA0-460B-8834-2D53432D7974}">
      <dgm:prSet/>
      <dgm:spPr/>
      <dgm:t>
        <a:bodyPr/>
        <a:lstStyle/>
        <a:p>
          <a:endParaRPr lang="en-US"/>
        </a:p>
      </dgm:t>
    </dgm:pt>
    <dgm:pt modelId="{33BA7551-F577-4DEB-8FAB-4BBAB046612E}" type="sibTrans" cxnId="{64467C8B-0DA0-460B-8834-2D53432D7974}">
      <dgm:prSet/>
      <dgm:spPr/>
      <dgm:t>
        <a:bodyPr/>
        <a:lstStyle/>
        <a:p>
          <a:endParaRPr lang="en-US"/>
        </a:p>
      </dgm:t>
    </dgm:pt>
    <dgm:pt modelId="{32AF56B3-50D9-45D8-A76C-1006D3FBE035}">
      <dgm:prSet/>
      <dgm:spPr/>
      <dgm:t>
        <a:bodyPr/>
        <a:lstStyle/>
        <a:p>
          <a:r>
            <a:rPr lang="en-US"/>
            <a:t>• Recomendable usar plantillas o sistemas SIEM.</a:t>
          </a:r>
        </a:p>
      </dgm:t>
    </dgm:pt>
    <dgm:pt modelId="{3DE716F6-BBDF-4267-BD16-8E863C026A69}" type="parTrans" cxnId="{CFE1B852-E146-4680-8AA5-9318022F4BC7}">
      <dgm:prSet/>
      <dgm:spPr/>
      <dgm:t>
        <a:bodyPr/>
        <a:lstStyle/>
        <a:p>
          <a:endParaRPr lang="en-US"/>
        </a:p>
      </dgm:t>
    </dgm:pt>
    <dgm:pt modelId="{93CD2916-3EE4-4212-9AF1-CF5CD92D04DA}" type="sibTrans" cxnId="{CFE1B852-E146-4680-8AA5-9318022F4BC7}">
      <dgm:prSet/>
      <dgm:spPr/>
      <dgm:t>
        <a:bodyPr/>
        <a:lstStyle/>
        <a:p>
          <a:endParaRPr lang="en-US"/>
        </a:p>
      </dgm:t>
    </dgm:pt>
    <dgm:pt modelId="{820B7587-E5B7-4A64-B336-284F4590DE93}" type="pres">
      <dgm:prSet presAssocID="{A93BAA6C-F1A8-41C3-A8D0-8D8FA3382A54}" presName="Name0" presStyleCnt="0">
        <dgm:presLayoutVars>
          <dgm:dir/>
          <dgm:animLvl val="lvl"/>
          <dgm:resizeHandles val="exact"/>
        </dgm:presLayoutVars>
      </dgm:prSet>
      <dgm:spPr/>
    </dgm:pt>
    <dgm:pt modelId="{CEDD3414-E954-4D17-8BEF-48CBB485C1B5}" type="pres">
      <dgm:prSet presAssocID="{32AF56B3-50D9-45D8-A76C-1006D3FBE035}" presName="boxAndChildren" presStyleCnt="0"/>
      <dgm:spPr/>
    </dgm:pt>
    <dgm:pt modelId="{895608E0-B1FC-4442-903A-E302A292CF0D}" type="pres">
      <dgm:prSet presAssocID="{32AF56B3-50D9-45D8-A76C-1006D3FBE035}" presName="parentTextBox" presStyleLbl="node1" presStyleIdx="0" presStyleCnt="3"/>
      <dgm:spPr/>
    </dgm:pt>
    <dgm:pt modelId="{2F2A1939-BE71-4257-9391-D17D4F254649}" type="pres">
      <dgm:prSet presAssocID="{33BA7551-F577-4DEB-8FAB-4BBAB046612E}" presName="sp" presStyleCnt="0"/>
      <dgm:spPr/>
    </dgm:pt>
    <dgm:pt modelId="{7ED30DAC-8A6C-422F-9110-04A51EDBD25B}" type="pres">
      <dgm:prSet presAssocID="{082F03ED-119B-4C34-A841-8868CDC53A36}" presName="arrowAndChildren" presStyleCnt="0"/>
      <dgm:spPr/>
    </dgm:pt>
    <dgm:pt modelId="{31094EEC-D491-4921-BD6B-2D1CDA5A7D86}" type="pres">
      <dgm:prSet presAssocID="{082F03ED-119B-4C34-A841-8868CDC53A36}" presName="parentTextArrow" presStyleLbl="node1" presStyleIdx="1" presStyleCnt="3"/>
      <dgm:spPr/>
    </dgm:pt>
    <dgm:pt modelId="{D2414249-694C-4B11-B5B1-E37BE736A189}" type="pres">
      <dgm:prSet presAssocID="{3984B00D-C573-488D-8F86-A8AB008320CD}" presName="sp" presStyleCnt="0"/>
      <dgm:spPr/>
    </dgm:pt>
    <dgm:pt modelId="{4E158849-68C5-4AE0-88A9-D14639EF8C2A}" type="pres">
      <dgm:prSet presAssocID="{83FA8656-CDB2-4EAF-A3BB-7DEF840E25FA}" presName="arrowAndChildren" presStyleCnt="0"/>
      <dgm:spPr/>
    </dgm:pt>
    <dgm:pt modelId="{93019537-D127-4616-AC19-CC2A2867A6AD}" type="pres">
      <dgm:prSet presAssocID="{83FA8656-CDB2-4EAF-A3BB-7DEF840E25FA}" presName="parentTextArrow" presStyleLbl="node1" presStyleIdx="2" presStyleCnt="3"/>
      <dgm:spPr/>
    </dgm:pt>
  </dgm:ptLst>
  <dgm:cxnLst>
    <dgm:cxn modelId="{3D2F2C12-D9DC-46B9-A364-7026448E6AAD}" type="presOf" srcId="{082F03ED-119B-4C34-A841-8868CDC53A36}" destId="{31094EEC-D491-4921-BD6B-2D1CDA5A7D86}" srcOrd="0" destOrd="0" presId="urn:microsoft.com/office/officeart/2005/8/layout/process4"/>
    <dgm:cxn modelId="{4A52C825-A888-4BB7-91A8-039FB4D344DA}" type="presOf" srcId="{A93BAA6C-F1A8-41C3-A8D0-8D8FA3382A54}" destId="{820B7587-E5B7-4A64-B336-284F4590DE93}" srcOrd="0" destOrd="0" presId="urn:microsoft.com/office/officeart/2005/8/layout/process4"/>
    <dgm:cxn modelId="{6EA67F47-9648-417B-96A0-05EC3FBE3487}" srcId="{A93BAA6C-F1A8-41C3-A8D0-8D8FA3382A54}" destId="{83FA8656-CDB2-4EAF-A3BB-7DEF840E25FA}" srcOrd="0" destOrd="0" parTransId="{7B9BEDDC-66B0-440C-8647-00BAFF09E451}" sibTransId="{3984B00D-C573-488D-8F86-A8AB008320CD}"/>
    <dgm:cxn modelId="{CFE1B852-E146-4680-8AA5-9318022F4BC7}" srcId="{A93BAA6C-F1A8-41C3-A8D0-8D8FA3382A54}" destId="{32AF56B3-50D9-45D8-A76C-1006D3FBE035}" srcOrd="2" destOrd="0" parTransId="{3DE716F6-BBDF-4267-BD16-8E863C026A69}" sibTransId="{93CD2916-3EE4-4212-9AF1-CF5CD92D04DA}"/>
    <dgm:cxn modelId="{64467C8B-0DA0-460B-8834-2D53432D7974}" srcId="{A93BAA6C-F1A8-41C3-A8D0-8D8FA3382A54}" destId="{082F03ED-119B-4C34-A841-8868CDC53A36}" srcOrd="1" destOrd="0" parTransId="{5D90C5C0-44AA-490A-855B-7D8F9770D9A1}" sibTransId="{33BA7551-F577-4DEB-8FAB-4BBAB046612E}"/>
    <dgm:cxn modelId="{D483CEB2-EEBE-4721-98E7-686295667460}" type="presOf" srcId="{83FA8656-CDB2-4EAF-A3BB-7DEF840E25FA}" destId="{93019537-D127-4616-AC19-CC2A2867A6AD}" srcOrd="0" destOrd="0" presId="urn:microsoft.com/office/officeart/2005/8/layout/process4"/>
    <dgm:cxn modelId="{58598BBC-F163-407E-8AEF-C0E3983ACC45}" type="presOf" srcId="{32AF56B3-50D9-45D8-A76C-1006D3FBE035}" destId="{895608E0-B1FC-4442-903A-E302A292CF0D}" srcOrd="0" destOrd="0" presId="urn:microsoft.com/office/officeart/2005/8/layout/process4"/>
    <dgm:cxn modelId="{E5CB866B-976C-41DC-AD06-47658CAED5DB}" type="presParOf" srcId="{820B7587-E5B7-4A64-B336-284F4590DE93}" destId="{CEDD3414-E954-4D17-8BEF-48CBB485C1B5}" srcOrd="0" destOrd="0" presId="urn:microsoft.com/office/officeart/2005/8/layout/process4"/>
    <dgm:cxn modelId="{B4286540-A9B7-41B7-948A-DFE6BC759DEF}" type="presParOf" srcId="{CEDD3414-E954-4D17-8BEF-48CBB485C1B5}" destId="{895608E0-B1FC-4442-903A-E302A292CF0D}" srcOrd="0" destOrd="0" presId="urn:microsoft.com/office/officeart/2005/8/layout/process4"/>
    <dgm:cxn modelId="{88A070B9-8657-4221-951C-469C8A5DB728}" type="presParOf" srcId="{820B7587-E5B7-4A64-B336-284F4590DE93}" destId="{2F2A1939-BE71-4257-9391-D17D4F254649}" srcOrd="1" destOrd="0" presId="urn:microsoft.com/office/officeart/2005/8/layout/process4"/>
    <dgm:cxn modelId="{096685E6-4FCA-4D9D-A9F0-BFA3503D6957}" type="presParOf" srcId="{820B7587-E5B7-4A64-B336-284F4590DE93}" destId="{7ED30DAC-8A6C-422F-9110-04A51EDBD25B}" srcOrd="2" destOrd="0" presId="urn:microsoft.com/office/officeart/2005/8/layout/process4"/>
    <dgm:cxn modelId="{1188DA4C-5446-41C2-AB48-E82C5A6626DD}" type="presParOf" srcId="{7ED30DAC-8A6C-422F-9110-04A51EDBD25B}" destId="{31094EEC-D491-4921-BD6B-2D1CDA5A7D86}" srcOrd="0" destOrd="0" presId="urn:microsoft.com/office/officeart/2005/8/layout/process4"/>
    <dgm:cxn modelId="{1E9D5A82-1B62-4F3D-8C6F-F78EC23D3A02}" type="presParOf" srcId="{820B7587-E5B7-4A64-B336-284F4590DE93}" destId="{D2414249-694C-4B11-B5B1-E37BE736A189}" srcOrd="3" destOrd="0" presId="urn:microsoft.com/office/officeart/2005/8/layout/process4"/>
    <dgm:cxn modelId="{F6CFA3B3-68B2-4A65-AB1E-1F1F56C320E7}" type="presParOf" srcId="{820B7587-E5B7-4A64-B336-284F4590DE93}" destId="{4E158849-68C5-4AE0-88A9-D14639EF8C2A}" srcOrd="4" destOrd="0" presId="urn:microsoft.com/office/officeart/2005/8/layout/process4"/>
    <dgm:cxn modelId="{CFBFFC8F-05D3-4849-8038-0CD4ECD27CD7}" type="presParOf" srcId="{4E158849-68C5-4AE0-88A9-D14639EF8C2A}" destId="{93019537-D127-4616-AC19-CC2A2867A6AD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9F78C91-E465-41FB-AD7D-B01BDC0FB97C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F904A6D-FCDB-4C5D-B849-5806C855C79E}">
      <dgm:prSet/>
      <dgm:spPr/>
      <dgm:t>
        <a:bodyPr/>
        <a:lstStyle/>
        <a:p>
          <a:r>
            <a:rPr lang="en-US"/>
            <a:t>• El detector informa al responsable de seguridad.</a:t>
          </a:r>
        </a:p>
      </dgm:t>
    </dgm:pt>
    <dgm:pt modelId="{85FDE058-684C-442A-B84E-88E0B79D34C5}" type="parTrans" cxnId="{E8597267-7BA2-458A-919D-EF55967902AE}">
      <dgm:prSet/>
      <dgm:spPr/>
      <dgm:t>
        <a:bodyPr/>
        <a:lstStyle/>
        <a:p>
          <a:endParaRPr lang="en-US"/>
        </a:p>
      </dgm:t>
    </dgm:pt>
    <dgm:pt modelId="{A1AF2688-E09F-416C-B172-8580B7FCAD8B}" type="sibTrans" cxnId="{E8597267-7BA2-458A-919D-EF55967902AE}">
      <dgm:prSet/>
      <dgm:spPr/>
      <dgm:t>
        <a:bodyPr/>
        <a:lstStyle/>
        <a:p>
          <a:endParaRPr lang="en-US"/>
        </a:p>
      </dgm:t>
    </dgm:pt>
    <dgm:pt modelId="{442C2869-C2E1-4298-A1EA-30BD2A06E6EC}">
      <dgm:prSet/>
      <dgm:spPr/>
      <dgm:t>
        <a:bodyPr/>
        <a:lstStyle/>
        <a:p>
          <a:r>
            <a:rPr lang="en-US"/>
            <a:t>• Si es grave: notificar al CSIRT o dirección de TI.</a:t>
          </a:r>
        </a:p>
      </dgm:t>
    </dgm:pt>
    <dgm:pt modelId="{CF8659F1-49DC-448E-8455-DD423BDC1986}" type="parTrans" cxnId="{DC01FCD4-E4B4-49B2-9BBC-0CD15725FFAE}">
      <dgm:prSet/>
      <dgm:spPr/>
      <dgm:t>
        <a:bodyPr/>
        <a:lstStyle/>
        <a:p>
          <a:endParaRPr lang="en-US"/>
        </a:p>
      </dgm:t>
    </dgm:pt>
    <dgm:pt modelId="{5BE0BE76-D435-424E-A64E-6AF054CFA605}" type="sibTrans" cxnId="{DC01FCD4-E4B4-49B2-9BBC-0CD15725FFAE}">
      <dgm:prSet/>
      <dgm:spPr/>
      <dgm:t>
        <a:bodyPr/>
        <a:lstStyle/>
        <a:p>
          <a:endParaRPr lang="en-US"/>
        </a:p>
      </dgm:t>
    </dgm:pt>
    <dgm:pt modelId="{9CEA66E0-E751-4727-834C-C5BC4B1035E2}">
      <dgm:prSet/>
      <dgm:spPr/>
      <dgm:t>
        <a:bodyPr/>
        <a:lstStyle/>
        <a:p>
          <a:r>
            <a:rPr lang="en-US"/>
            <a:t>• Puede incluir aviso a CERT nacionales (p. ej., INCIBE-CERT).</a:t>
          </a:r>
        </a:p>
      </dgm:t>
    </dgm:pt>
    <dgm:pt modelId="{5D6D42DD-94E4-4DDB-B671-28BDDA440142}" type="parTrans" cxnId="{B3702468-0697-48E9-9375-D8DC5573E352}">
      <dgm:prSet/>
      <dgm:spPr/>
      <dgm:t>
        <a:bodyPr/>
        <a:lstStyle/>
        <a:p>
          <a:endParaRPr lang="en-US"/>
        </a:p>
      </dgm:t>
    </dgm:pt>
    <dgm:pt modelId="{DA46A605-3B2D-4A5D-B15C-C3E89841C20D}" type="sibTrans" cxnId="{B3702468-0697-48E9-9375-D8DC5573E352}">
      <dgm:prSet/>
      <dgm:spPr/>
      <dgm:t>
        <a:bodyPr/>
        <a:lstStyle/>
        <a:p>
          <a:endParaRPr lang="en-US"/>
        </a:p>
      </dgm:t>
    </dgm:pt>
    <dgm:pt modelId="{EF6DAB15-78A5-4A31-9488-6261C423FE64}" type="pres">
      <dgm:prSet presAssocID="{19F78C91-E465-41FB-AD7D-B01BDC0FB97C}" presName="linear" presStyleCnt="0">
        <dgm:presLayoutVars>
          <dgm:animLvl val="lvl"/>
          <dgm:resizeHandles val="exact"/>
        </dgm:presLayoutVars>
      </dgm:prSet>
      <dgm:spPr/>
    </dgm:pt>
    <dgm:pt modelId="{703BE22E-2322-41F0-A6C9-23DDFD9A8AE0}" type="pres">
      <dgm:prSet presAssocID="{5F904A6D-FCDB-4C5D-B849-5806C855C79E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731C5735-E825-4823-A2DE-D816528AFB64}" type="pres">
      <dgm:prSet presAssocID="{A1AF2688-E09F-416C-B172-8580B7FCAD8B}" presName="spacer" presStyleCnt="0"/>
      <dgm:spPr/>
    </dgm:pt>
    <dgm:pt modelId="{64840C4F-9A2C-401D-A8AF-19510459F129}" type="pres">
      <dgm:prSet presAssocID="{442C2869-C2E1-4298-A1EA-30BD2A06E6EC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DA8F8CD2-4BAB-471B-9F04-15E92ACA4111}" type="pres">
      <dgm:prSet presAssocID="{5BE0BE76-D435-424E-A64E-6AF054CFA605}" presName="spacer" presStyleCnt="0"/>
      <dgm:spPr/>
    </dgm:pt>
    <dgm:pt modelId="{365CDEB5-2852-4AAF-96F2-53265B7C5A7E}" type="pres">
      <dgm:prSet presAssocID="{9CEA66E0-E751-4727-834C-C5BC4B1035E2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E8597267-7BA2-458A-919D-EF55967902AE}" srcId="{19F78C91-E465-41FB-AD7D-B01BDC0FB97C}" destId="{5F904A6D-FCDB-4C5D-B849-5806C855C79E}" srcOrd="0" destOrd="0" parTransId="{85FDE058-684C-442A-B84E-88E0B79D34C5}" sibTransId="{A1AF2688-E09F-416C-B172-8580B7FCAD8B}"/>
    <dgm:cxn modelId="{B3702468-0697-48E9-9375-D8DC5573E352}" srcId="{19F78C91-E465-41FB-AD7D-B01BDC0FB97C}" destId="{9CEA66E0-E751-4727-834C-C5BC4B1035E2}" srcOrd="2" destOrd="0" parTransId="{5D6D42DD-94E4-4DDB-B671-28BDDA440142}" sibTransId="{DA46A605-3B2D-4A5D-B15C-C3E89841C20D}"/>
    <dgm:cxn modelId="{46356A9F-6492-4753-BC58-2EACE250C056}" type="presOf" srcId="{442C2869-C2E1-4298-A1EA-30BD2A06E6EC}" destId="{64840C4F-9A2C-401D-A8AF-19510459F129}" srcOrd="0" destOrd="0" presId="urn:microsoft.com/office/officeart/2005/8/layout/vList2"/>
    <dgm:cxn modelId="{94A8C9A5-7B5F-411C-A2C2-F7B9ECD00CD4}" type="presOf" srcId="{19F78C91-E465-41FB-AD7D-B01BDC0FB97C}" destId="{EF6DAB15-78A5-4A31-9488-6261C423FE64}" srcOrd="0" destOrd="0" presId="urn:microsoft.com/office/officeart/2005/8/layout/vList2"/>
    <dgm:cxn modelId="{DC01FCD4-E4B4-49B2-9BBC-0CD15725FFAE}" srcId="{19F78C91-E465-41FB-AD7D-B01BDC0FB97C}" destId="{442C2869-C2E1-4298-A1EA-30BD2A06E6EC}" srcOrd="1" destOrd="0" parTransId="{CF8659F1-49DC-448E-8455-DD423BDC1986}" sibTransId="{5BE0BE76-D435-424E-A64E-6AF054CFA605}"/>
    <dgm:cxn modelId="{20F783D7-D1CB-4548-A765-066F2188A5B4}" type="presOf" srcId="{9CEA66E0-E751-4727-834C-C5BC4B1035E2}" destId="{365CDEB5-2852-4AAF-96F2-53265B7C5A7E}" srcOrd="0" destOrd="0" presId="urn:microsoft.com/office/officeart/2005/8/layout/vList2"/>
    <dgm:cxn modelId="{08E68CDD-88BB-402E-BF1B-8C1C1B3C0601}" type="presOf" srcId="{5F904A6D-FCDB-4C5D-B849-5806C855C79E}" destId="{703BE22E-2322-41F0-A6C9-23DDFD9A8AE0}" srcOrd="0" destOrd="0" presId="urn:microsoft.com/office/officeart/2005/8/layout/vList2"/>
    <dgm:cxn modelId="{1BA691A2-7CF7-4FD7-BE8A-70A6F2AD914D}" type="presParOf" srcId="{EF6DAB15-78A5-4A31-9488-6261C423FE64}" destId="{703BE22E-2322-41F0-A6C9-23DDFD9A8AE0}" srcOrd="0" destOrd="0" presId="urn:microsoft.com/office/officeart/2005/8/layout/vList2"/>
    <dgm:cxn modelId="{6711EBBE-2C38-430C-BFF7-53B9FC7FE96D}" type="presParOf" srcId="{EF6DAB15-78A5-4A31-9488-6261C423FE64}" destId="{731C5735-E825-4823-A2DE-D816528AFB64}" srcOrd="1" destOrd="0" presId="urn:microsoft.com/office/officeart/2005/8/layout/vList2"/>
    <dgm:cxn modelId="{DCFC3780-A452-40F0-A628-22675A2EE016}" type="presParOf" srcId="{EF6DAB15-78A5-4A31-9488-6261C423FE64}" destId="{64840C4F-9A2C-401D-A8AF-19510459F129}" srcOrd="2" destOrd="0" presId="urn:microsoft.com/office/officeart/2005/8/layout/vList2"/>
    <dgm:cxn modelId="{C5827D61-D673-42A4-AF9C-C545676128CA}" type="presParOf" srcId="{EF6DAB15-78A5-4A31-9488-6261C423FE64}" destId="{DA8F8CD2-4BAB-471B-9F04-15E92ACA4111}" srcOrd="3" destOrd="0" presId="urn:microsoft.com/office/officeart/2005/8/layout/vList2"/>
    <dgm:cxn modelId="{0C65218E-21DE-458B-9E2C-702450FB4A55}" type="presParOf" srcId="{EF6DAB15-78A5-4A31-9488-6261C423FE64}" destId="{365CDEB5-2852-4AAF-96F2-53265B7C5A7E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BCBA1CB-2616-4815-AA3E-0E1B0EF0DC2F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F8C0F1D5-903F-4A52-8587-50A68CF39F56}">
      <dgm:prSet/>
      <dgm:spPr/>
      <dgm:t>
        <a:bodyPr/>
        <a:lstStyle/>
        <a:p>
          <a:r>
            <a:rPr lang="en-US"/>
            <a:t>• Elaborar informe final.</a:t>
          </a:r>
        </a:p>
      </dgm:t>
    </dgm:pt>
    <dgm:pt modelId="{D2D39582-A1AD-48B9-A4A6-8BD00476E283}" type="parTrans" cxnId="{49D9FE83-553A-4904-9833-26B765AE95D9}">
      <dgm:prSet/>
      <dgm:spPr/>
      <dgm:t>
        <a:bodyPr/>
        <a:lstStyle/>
        <a:p>
          <a:endParaRPr lang="en-US"/>
        </a:p>
      </dgm:t>
    </dgm:pt>
    <dgm:pt modelId="{C2634A5A-0E2E-43A8-91CD-A8F8F15873CB}" type="sibTrans" cxnId="{49D9FE83-553A-4904-9833-26B765AE95D9}">
      <dgm:prSet/>
      <dgm:spPr/>
      <dgm:t>
        <a:bodyPr/>
        <a:lstStyle/>
        <a:p>
          <a:endParaRPr lang="en-US"/>
        </a:p>
      </dgm:t>
    </dgm:pt>
    <dgm:pt modelId="{3CC4BAFF-98A5-42A7-B3FE-1245E431F3D2}">
      <dgm:prSet/>
      <dgm:spPr/>
      <dgm:t>
        <a:bodyPr/>
        <a:lstStyle/>
        <a:p>
          <a:r>
            <a:rPr lang="en-US"/>
            <a:t>• Revisar procedimientos.</a:t>
          </a:r>
        </a:p>
      </dgm:t>
    </dgm:pt>
    <dgm:pt modelId="{F38CA6B7-E3D0-450D-A425-04C972E2A194}" type="parTrans" cxnId="{892593CA-A0A7-4FF1-9CCC-3861E4B4184A}">
      <dgm:prSet/>
      <dgm:spPr/>
      <dgm:t>
        <a:bodyPr/>
        <a:lstStyle/>
        <a:p>
          <a:endParaRPr lang="en-US"/>
        </a:p>
      </dgm:t>
    </dgm:pt>
    <dgm:pt modelId="{023E0786-5A6B-43B4-A208-7C80C9E4F30F}" type="sibTrans" cxnId="{892593CA-A0A7-4FF1-9CCC-3861E4B4184A}">
      <dgm:prSet/>
      <dgm:spPr/>
      <dgm:t>
        <a:bodyPr/>
        <a:lstStyle/>
        <a:p>
          <a:endParaRPr lang="en-US"/>
        </a:p>
      </dgm:t>
    </dgm:pt>
    <dgm:pt modelId="{B2E2DD9D-09B2-4161-8736-52B71C77D247}">
      <dgm:prSet/>
      <dgm:spPr/>
      <dgm:t>
        <a:bodyPr/>
        <a:lstStyle/>
        <a:p>
          <a:r>
            <a:rPr lang="en-US"/>
            <a:t>• Realizar simulacros.</a:t>
          </a:r>
        </a:p>
      </dgm:t>
    </dgm:pt>
    <dgm:pt modelId="{35B4CCCB-0D29-4007-AFC3-EF311CAFA4CE}" type="parTrans" cxnId="{2916C594-EB30-4B78-BDB9-F5A68BEA5139}">
      <dgm:prSet/>
      <dgm:spPr/>
      <dgm:t>
        <a:bodyPr/>
        <a:lstStyle/>
        <a:p>
          <a:endParaRPr lang="en-US"/>
        </a:p>
      </dgm:t>
    </dgm:pt>
    <dgm:pt modelId="{C90DB46D-4E58-4F0D-B902-23DAE43DA084}" type="sibTrans" cxnId="{2916C594-EB30-4B78-BDB9-F5A68BEA5139}">
      <dgm:prSet/>
      <dgm:spPr/>
      <dgm:t>
        <a:bodyPr/>
        <a:lstStyle/>
        <a:p>
          <a:endParaRPr lang="en-US"/>
        </a:p>
      </dgm:t>
    </dgm:pt>
    <dgm:pt modelId="{ECB75D27-8533-46F4-8E67-A64134287356}">
      <dgm:prSet/>
      <dgm:spPr/>
      <dgm:t>
        <a:bodyPr/>
        <a:lstStyle/>
        <a:p>
          <a:r>
            <a:rPr lang="en-US"/>
            <a:t>• Aplicar lecciones aprendidas.</a:t>
          </a:r>
        </a:p>
      </dgm:t>
    </dgm:pt>
    <dgm:pt modelId="{0A46CECB-BE56-4117-9736-4E6D828530C4}" type="parTrans" cxnId="{45D0F143-C64C-41A6-A115-807D9A17F57D}">
      <dgm:prSet/>
      <dgm:spPr/>
      <dgm:t>
        <a:bodyPr/>
        <a:lstStyle/>
        <a:p>
          <a:endParaRPr lang="en-US"/>
        </a:p>
      </dgm:t>
    </dgm:pt>
    <dgm:pt modelId="{D2A54BE8-7EF8-4E01-A135-AD26FF923AC0}" type="sibTrans" cxnId="{45D0F143-C64C-41A6-A115-807D9A17F57D}">
      <dgm:prSet/>
      <dgm:spPr/>
      <dgm:t>
        <a:bodyPr/>
        <a:lstStyle/>
        <a:p>
          <a:endParaRPr lang="en-US"/>
        </a:p>
      </dgm:t>
    </dgm:pt>
    <dgm:pt modelId="{A0C81079-E0B2-41F9-8ECB-6594E1498009}" type="pres">
      <dgm:prSet presAssocID="{8BCBA1CB-2616-4815-AA3E-0E1B0EF0DC2F}" presName="linear" presStyleCnt="0">
        <dgm:presLayoutVars>
          <dgm:animLvl val="lvl"/>
          <dgm:resizeHandles val="exact"/>
        </dgm:presLayoutVars>
      </dgm:prSet>
      <dgm:spPr/>
    </dgm:pt>
    <dgm:pt modelId="{163E372D-935A-44C9-B4E3-76C784DD055F}" type="pres">
      <dgm:prSet presAssocID="{F8C0F1D5-903F-4A52-8587-50A68CF39F56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1EE087B1-C6AF-41D9-977F-0C0DE2CD4ACE}" type="pres">
      <dgm:prSet presAssocID="{C2634A5A-0E2E-43A8-91CD-A8F8F15873CB}" presName="spacer" presStyleCnt="0"/>
      <dgm:spPr/>
    </dgm:pt>
    <dgm:pt modelId="{1BDC88ED-30A4-42A9-8540-5BDB8EE0886D}" type="pres">
      <dgm:prSet presAssocID="{3CC4BAFF-98A5-42A7-B3FE-1245E431F3D2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1EF80935-F3FB-479E-A1B6-098E928BEC4C}" type="pres">
      <dgm:prSet presAssocID="{023E0786-5A6B-43B4-A208-7C80C9E4F30F}" presName="spacer" presStyleCnt="0"/>
      <dgm:spPr/>
    </dgm:pt>
    <dgm:pt modelId="{74BB1920-6E11-48F9-B7BE-02C7DC397F5F}" type="pres">
      <dgm:prSet presAssocID="{B2E2DD9D-09B2-4161-8736-52B71C77D247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44316079-962B-4E82-9A18-0292F6F62FBF}" type="pres">
      <dgm:prSet presAssocID="{C90DB46D-4E58-4F0D-B902-23DAE43DA084}" presName="spacer" presStyleCnt="0"/>
      <dgm:spPr/>
    </dgm:pt>
    <dgm:pt modelId="{A8B87F6D-5275-4516-974C-E414BB4278E8}" type="pres">
      <dgm:prSet presAssocID="{ECB75D27-8533-46F4-8E67-A64134287356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C12D205C-C952-4D75-A729-33E6328E7561}" type="presOf" srcId="{ECB75D27-8533-46F4-8E67-A64134287356}" destId="{A8B87F6D-5275-4516-974C-E414BB4278E8}" srcOrd="0" destOrd="0" presId="urn:microsoft.com/office/officeart/2005/8/layout/vList2"/>
    <dgm:cxn modelId="{45D0F143-C64C-41A6-A115-807D9A17F57D}" srcId="{8BCBA1CB-2616-4815-AA3E-0E1B0EF0DC2F}" destId="{ECB75D27-8533-46F4-8E67-A64134287356}" srcOrd="3" destOrd="0" parTransId="{0A46CECB-BE56-4117-9736-4E6D828530C4}" sibTransId="{D2A54BE8-7EF8-4E01-A135-AD26FF923AC0}"/>
    <dgm:cxn modelId="{414BF347-AAFE-449B-B645-153DE2829145}" type="presOf" srcId="{8BCBA1CB-2616-4815-AA3E-0E1B0EF0DC2F}" destId="{A0C81079-E0B2-41F9-8ECB-6594E1498009}" srcOrd="0" destOrd="0" presId="urn:microsoft.com/office/officeart/2005/8/layout/vList2"/>
    <dgm:cxn modelId="{49D9FE83-553A-4904-9833-26B765AE95D9}" srcId="{8BCBA1CB-2616-4815-AA3E-0E1B0EF0DC2F}" destId="{F8C0F1D5-903F-4A52-8587-50A68CF39F56}" srcOrd="0" destOrd="0" parTransId="{D2D39582-A1AD-48B9-A4A6-8BD00476E283}" sibTransId="{C2634A5A-0E2E-43A8-91CD-A8F8F15873CB}"/>
    <dgm:cxn modelId="{2916C594-EB30-4B78-BDB9-F5A68BEA5139}" srcId="{8BCBA1CB-2616-4815-AA3E-0E1B0EF0DC2F}" destId="{B2E2DD9D-09B2-4161-8736-52B71C77D247}" srcOrd="2" destOrd="0" parTransId="{35B4CCCB-0D29-4007-AFC3-EF311CAFA4CE}" sibTransId="{C90DB46D-4E58-4F0D-B902-23DAE43DA084}"/>
    <dgm:cxn modelId="{64C8FB9C-282C-41C7-9BFC-70F622D01F8F}" type="presOf" srcId="{B2E2DD9D-09B2-4161-8736-52B71C77D247}" destId="{74BB1920-6E11-48F9-B7BE-02C7DC397F5F}" srcOrd="0" destOrd="0" presId="urn:microsoft.com/office/officeart/2005/8/layout/vList2"/>
    <dgm:cxn modelId="{558005C9-B707-449E-9EF0-83F633A6E865}" type="presOf" srcId="{F8C0F1D5-903F-4A52-8587-50A68CF39F56}" destId="{163E372D-935A-44C9-B4E3-76C784DD055F}" srcOrd="0" destOrd="0" presId="urn:microsoft.com/office/officeart/2005/8/layout/vList2"/>
    <dgm:cxn modelId="{892593CA-A0A7-4FF1-9CCC-3861E4B4184A}" srcId="{8BCBA1CB-2616-4815-AA3E-0E1B0EF0DC2F}" destId="{3CC4BAFF-98A5-42A7-B3FE-1245E431F3D2}" srcOrd="1" destOrd="0" parTransId="{F38CA6B7-E3D0-450D-A425-04C972E2A194}" sibTransId="{023E0786-5A6B-43B4-A208-7C80C9E4F30F}"/>
    <dgm:cxn modelId="{35EAF5DF-FD54-4377-A0B2-3FF36F12A5F4}" type="presOf" srcId="{3CC4BAFF-98A5-42A7-B3FE-1245E431F3D2}" destId="{1BDC88ED-30A4-42A9-8540-5BDB8EE0886D}" srcOrd="0" destOrd="0" presId="urn:microsoft.com/office/officeart/2005/8/layout/vList2"/>
    <dgm:cxn modelId="{E2A1EA2E-22BB-425B-9F60-CC7A5DFE4461}" type="presParOf" srcId="{A0C81079-E0B2-41F9-8ECB-6594E1498009}" destId="{163E372D-935A-44C9-B4E3-76C784DD055F}" srcOrd="0" destOrd="0" presId="urn:microsoft.com/office/officeart/2005/8/layout/vList2"/>
    <dgm:cxn modelId="{26C49D44-4AA2-4C5F-84A3-4DC92DF82E7A}" type="presParOf" srcId="{A0C81079-E0B2-41F9-8ECB-6594E1498009}" destId="{1EE087B1-C6AF-41D9-977F-0C0DE2CD4ACE}" srcOrd="1" destOrd="0" presId="urn:microsoft.com/office/officeart/2005/8/layout/vList2"/>
    <dgm:cxn modelId="{88293E3F-9267-4EA7-849D-49ECC40C5C8F}" type="presParOf" srcId="{A0C81079-E0B2-41F9-8ECB-6594E1498009}" destId="{1BDC88ED-30A4-42A9-8540-5BDB8EE0886D}" srcOrd="2" destOrd="0" presId="urn:microsoft.com/office/officeart/2005/8/layout/vList2"/>
    <dgm:cxn modelId="{9D516C05-E969-4B06-9293-D3B4596CD034}" type="presParOf" srcId="{A0C81079-E0B2-41F9-8ECB-6594E1498009}" destId="{1EF80935-F3FB-479E-A1B6-098E928BEC4C}" srcOrd="3" destOrd="0" presId="urn:microsoft.com/office/officeart/2005/8/layout/vList2"/>
    <dgm:cxn modelId="{2E04AB65-685F-439A-8797-6E13B885CD9B}" type="presParOf" srcId="{A0C81079-E0B2-41F9-8ECB-6594E1498009}" destId="{74BB1920-6E11-48F9-B7BE-02C7DC397F5F}" srcOrd="4" destOrd="0" presId="urn:microsoft.com/office/officeart/2005/8/layout/vList2"/>
    <dgm:cxn modelId="{55DC5B19-8DBE-41F3-81BB-AD51E2D3837F}" type="presParOf" srcId="{A0C81079-E0B2-41F9-8ECB-6594E1498009}" destId="{44316079-962B-4E82-9A18-0292F6F62FBF}" srcOrd="5" destOrd="0" presId="urn:microsoft.com/office/officeart/2005/8/layout/vList2"/>
    <dgm:cxn modelId="{FBDB6085-B6E3-4FCB-AE70-4ED8765CB3B6}" type="presParOf" srcId="{A0C81079-E0B2-41F9-8ECB-6594E1498009}" destId="{A8B87F6D-5275-4516-974C-E414BB4278E8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CC9A989-9452-44A8-A4D1-47F0DB1E4A6F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8C04DEEE-9C57-4E34-88C8-EC2ED04DAEDE}">
      <dgm:prSet/>
      <dgm:spPr/>
      <dgm:t>
        <a:bodyPr/>
        <a:lstStyle/>
        <a:p>
          <a:r>
            <a:rPr lang="en-US"/>
            <a:t>• La detección y notificación tempranas reducen el impacto.</a:t>
          </a:r>
        </a:p>
      </dgm:t>
    </dgm:pt>
    <dgm:pt modelId="{2E8CBDE9-6AA4-4CCE-B890-33C2F2594E11}" type="parTrans" cxnId="{AA29E36F-7B21-4C28-9AC7-DAE4306E815A}">
      <dgm:prSet/>
      <dgm:spPr/>
      <dgm:t>
        <a:bodyPr/>
        <a:lstStyle/>
        <a:p>
          <a:endParaRPr lang="en-US"/>
        </a:p>
      </dgm:t>
    </dgm:pt>
    <dgm:pt modelId="{07D1E34B-1F54-43CD-8D7F-A76598B9BD48}" type="sibTrans" cxnId="{AA29E36F-7B21-4C28-9AC7-DAE4306E815A}">
      <dgm:prSet/>
      <dgm:spPr/>
      <dgm:t>
        <a:bodyPr/>
        <a:lstStyle/>
        <a:p>
          <a:endParaRPr lang="en-US"/>
        </a:p>
      </dgm:t>
    </dgm:pt>
    <dgm:pt modelId="{DE027239-2F64-46AF-BD5D-E19CB2AFEF8C}">
      <dgm:prSet/>
      <dgm:spPr/>
      <dgm:t>
        <a:bodyPr/>
        <a:lstStyle/>
        <a:p>
          <a:r>
            <a:rPr lang="en-US"/>
            <a:t>• Cada intento aporta información útil para mejorar.</a:t>
          </a:r>
        </a:p>
      </dgm:t>
    </dgm:pt>
    <dgm:pt modelId="{F43D30B7-1CEC-402E-BE65-64DD026C1658}" type="parTrans" cxnId="{29B9257F-62C9-4567-8E81-400EC4616A29}">
      <dgm:prSet/>
      <dgm:spPr/>
      <dgm:t>
        <a:bodyPr/>
        <a:lstStyle/>
        <a:p>
          <a:endParaRPr lang="en-US"/>
        </a:p>
      </dgm:t>
    </dgm:pt>
    <dgm:pt modelId="{77E29D23-5F29-4857-BDA8-B18F8A7BC22E}" type="sibTrans" cxnId="{29B9257F-62C9-4567-8E81-400EC4616A29}">
      <dgm:prSet/>
      <dgm:spPr/>
      <dgm:t>
        <a:bodyPr/>
        <a:lstStyle/>
        <a:p>
          <a:endParaRPr lang="en-US"/>
        </a:p>
      </dgm:t>
    </dgm:pt>
    <dgm:pt modelId="{52F8DAB2-3A60-44DA-B61E-1AD5C278F048}">
      <dgm:prSet/>
      <dgm:spPr/>
      <dgm:t>
        <a:bodyPr/>
        <a:lstStyle/>
        <a:p>
          <a:r>
            <a:rPr lang="en-US"/>
            <a:t>• Un sistema bien documentado fortalece la ciberseguridad.</a:t>
          </a:r>
        </a:p>
      </dgm:t>
    </dgm:pt>
    <dgm:pt modelId="{27E2C540-9DF6-4AE5-94EA-8F392989DFB2}" type="parTrans" cxnId="{D7BB302C-9499-4569-AF58-F4E741EA2D92}">
      <dgm:prSet/>
      <dgm:spPr/>
      <dgm:t>
        <a:bodyPr/>
        <a:lstStyle/>
        <a:p>
          <a:endParaRPr lang="en-US"/>
        </a:p>
      </dgm:t>
    </dgm:pt>
    <dgm:pt modelId="{79CB2DA8-1D4D-4BE8-95B9-B206151CC95D}" type="sibTrans" cxnId="{D7BB302C-9499-4569-AF58-F4E741EA2D92}">
      <dgm:prSet/>
      <dgm:spPr/>
      <dgm:t>
        <a:bodyPr/>
        <a:lstStyle/>
        <a:p>
          <a:endParaRPr lang="en-US"/>
        </a:p>
      </dgm:t>
    </dgm:pt>
    <dgm:pt modelId="{F49EB89C-3C50-4F28-BE94-490AEA4DBACD}" type="pres">
      <dgm:prSet presAssocID="{9CC9A989-9452-44A8-A4D1-47F0DB1E4A6F}" presName="linear" presStyleCnt="0">
        <dgm:presLayoutVars>
          <dgm:animLvl val="lvl"/>
          <dgm:resizeHandles val="exact"/>
        </dgm:presLayoutVars>
      </dgm:prSet>
      <dgm:spPr/>
    </dgm:pt>
    <dgm:pt modelId="{9D1595A0-AF10-4004-A35E-0CA9ED12CE85}" type="pres">
      <dgm:prSet presAssocID="{8C04DEEE-9C57-4E34-88C8-EC2ED04DAEDE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46F8FDF7-6DFE-4DE7-859B-DA86D0E8ED19}" type="pres">
      <dgm:prSet presAssocID="{07D1E34B-1F54-43CD-8D7F-A76598B9BD48}" presName="spacer" presStyleCnt="0"/>
      <dgm:spPr/>
    </dgm:pt>
    <dgm:pt modelId="{505FD18B-E37B-44C4-8587-2BEF6ECD9CDE}" type="pres">
      <dgm:prSet presAssocID="{DE027239-2F64-46AF-BD5D-E19CB2AFEF8C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9BDED273-8F58-4FF0-84B8-B70918ADE208}" type="pres">
      <dgm:prSet presAssocID="{77E29D23-5F29-4857-BDA8-B18F8A7BC22E}" presName="spacer" presStyleCnt="0"/>
      <dgm:spPr/>
    </dgm:pt>
    <dgm:pt modelId="{1AD7C03F-83B1-4D95-A83F-A1BE2E8D71B3}" type="pres">
      <dgm:prSet presAssocID="{52F8DAB2-3A60-44DA-B61E-1AD5C278F048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C2D7000B-9240-440D-B6DD-C295B71B6216}" type="presOf" srcId="{52F8DAB2-3A60-44DA-B61E-1AD5C278F048}" destId="{1AD7C03F-83B1-4D95-A83F-A1BE2E8D71B3}" srcOrd="0" destOrd="0" presId="urn:microsoft.com/office/officeart/2005/8/layout/vList2"/>
    <dgm:cxn modelId="{D7BB302C-9499-4569-AF58-F4E741EA2D92}" srcId="{9CC9A989-9452-44A8-A4D1-47F0DB1E4A6F}" destId="{52F8DAB2-3A60-44DA-B61E-1AD5C278F048}" srcOrd="2" destOrd="0" parTransId="{27E2C540-9DF6-4AE5-94EA-8F392989DFB2}" sibTransId="{79CB2DA8-1D4D-4BE8-95B9-B206151CC95D}"/>
    <dgm:cxn modelId="{D633256A-A713-4D5D-90B9-86752D3F20B9}" type="presOf" srcId="{8C04DEEE-9C57-4E34-88C8-EC2ED04DAEDE}" destId="{9D1595A0-AF10-4004-A35E-0CA9ED12CE85}" srcOrd="0" destOrd="0" presId="urn:microsoft.com/office/officeart/2005/8/layout/vList2"/>
    <dgm:cxn modelId="{AA29E36F-7B21-4C28-9AC7-DAE4306E815A}" srcId="{9CC9A989-9452-44A8-A4D1-47F0DB1E4A6F}" destId="{8C04DEEE-9C57-4E34-88C8-EC2ED04DAEDE}" srcOrd="0" destOrd="0" parTransId="{2E8CBDE9-6AA4-4CCE-B890-33C2F2594E11}" sibTransId="{07D1E34B-1F54-43CD-8D7F-A76598B9BD48}"/>
    <dgm:cxn modelId="{6B1AFE77-5697-499A-8720-445EC45CDC84}" type="presOf" srcId="{DE027239-2F64-46AF-BD5D-E19CB2AFEF8C}" destId="{505FD18B-E37B-44C4-8587-2BEF6ECD9CDE}" srcOrd="0" destOrd="0" presId="urn:microsoft.com/office/officeart/2005/8/layout/vList2"/>
    <dgm:cxn modelId="{29B9257F-62C9-4567-8E81-400EC4616A29}" srcId="{9CC9A989-9452-44A8-A4D1-47F0DB1E4A6F}" destId="{DE027239-2F64-46AF-BD5D-E19CB2AFEF8C}" srcOrd="1" destOrd="0" parTransId="{F43D30B7-1CEC-402E-BE65-64DD026C1658}" sibTransId="{77E29D23-5F29-4857-BDA8-B18F8A7BC22E}"/>
    <dgm:cxn modelId="{EB0C42E5-3C0B-400D-AFC1-C619A6E2D6F9}" type="presOf" srcId="{9CC9A989-9452-44A8-A4D1-47F0DB1E4A6F}" destId="{F49EB89C-3C50-4F28-BE94-490AEA4DBACD}" srcOrd="0" destOrd="0" presId="urn:microsoft.com/office/officeart/2005/8/layout/vList2"/>
    <dgm:cxn modelId="{DD7ABFF4-EBDA-4F93-B238-BF91FDE0C4D6}" type="presParOf" srcId="{F49EB89C-3C50-4F28-BE94-490AEA4DBACD}" destId="{9D1595A0-AF10-4004-A35E-0CA9ED12CE85}" srcOrd="0" destOrd="0" presId="urn:microsoft.com/office/officeart/2005/8/layout/vList2"/>
    <dgm:cxn modelId="{92BDBB91-F84C-40FF-B90B-C8F782DDFC72}" type="presParOf" srcId="{F49EB89C-3C50-4F28-BE94-490AEA4DBACD}" destId="{46F8FDF7-6DFE-4DE7-859B-DA86D0E8ED19}" srcOrd="1" destOrd="0" presId="urn:microsoft.com/office/officeart/2005/8/layout/vList2"/>
    <dgm:cxn modelId="{1A848153-C4D5-404D-AAC2-69E2335493E5}" type="presParOf" srcId="{F49EB89C-3C50-4F28-BE94-490AEA4DBACD}" destId="{505FD18B-E37B-44C4-8587-2BEF6ECD9CDE}" srcOrd="2" destOrd="0" presId="urn:microsoft.com/office/officeart/2005/8/layout/vList2"/>
    <dgm:cxn modelId="{897F05F4-A7BD-4648-9B03-CE4185F01CA9}" type="presParOf" srcId="{F49EB89C-3C50-4F28-BE94-490AEA4DBACD}" destId="{9BDED273-8F58-4FF0-84B8-B70918ADE208}" srcOrd="3" destOrd="0" presId="urn:microsoft.com/office/officeart/2005/8/layout/vList2"/>
    <dgm:cxn modelId="{12F6947E-4B1D-4FCA-914A-9F3030A8CA5A}" type="presParOf" srcId="{F49EB89C-3C50-4F28-BE94-490AEA4DBACD}" destId="{1AD7C03F-83B1-4D95-A83F-A1BE2E8D71B3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5608E0-B1FC-4442-903A-E302A292CF0D}">
      <dsp:nvSpPr>
        <dsp:cNvPr id="0" name=""/>
        <dsp:cNvSpPr/>
      </dsp:nvSpPr>
      <dsp:spPr>
        <a:xfrm>
          <a:off x="0" y="2808564"/>
          <a:ext cx="3885184" cy="92183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Recomendable usar plantillas o sistemas SIEM.</a:t>
          </a:r>
        </a:p>
      </dsp:txBody>
      <dsp:txXfrm>
        <a:off x="0" y="2808564"/>
        <a:ext cx="3885184" cy="921833"/>
      </dsp:txXfrm>
    </dsp:sp>
    <dsp:sp modelId="{31094EEC-D491-4921-BD6B-2D1CDA5A7D86}">
      <dsp:nvSpPr>
        <dsp:cNvPr id="0" name=""/>
        <dsp:cNvSpPr/>
      </dsp:nvSpPr>
      <dsp:spPr>
        <a:xfrm rot="10800000">
          <a:off x="0" y="1404612"/>
          <a:ext cx="3885184" cy="1417780"/>
        </a:xfrm>
        <a:prstGeom prst="upArrowCallou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Acciones iniciales y responsable.</a:t>
          </a:r>
        </a:p>
      </dsp:txBody>
      <dsp:txXfrm rot="10800000">
        <a:off x="0" y="1404612"/>
        <a:ext cx="3885184" cy="921231"/>
      </dsp:txXfrm>
    </dsp:sp>
    <dsp:sp modelId="{93019537-D127-4616-AC19-CC2A2867A6AD}">
      <dsp:nvSpPr>
        <dsp:cNvPr id="0" name=""/>
        <dsp:cNvSpPr/>
      </dsp:nvSpPr>
      <dsp:spPr>
        <a:xfrm rot="10800000">
          <a:off x="0" y="659"/>
          <a:ext cx="3885184" cy="1417780"/>
        </a:xfrm>
        <a:prstGeom prst="upArrowCallou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Información mínima: fecha, hora, usuario, sistema afectado, descripción.</a:t>
          </a:r>
        </a:p>
      </dsp:txBody>
      <dsp:txXfrm rot="10800000">
        <a:off x="0" y="659"/>
        <a:ext cx="3885184" cy="92123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03BE22E-2322-41F0-A6C9-23DDFD9A8AE0}">
      <dsp:nvSpPr>
        <dsp:cNvPr id="0" name=""/>
        <dsp:cNvSpPr/>
      </dsp:nvSpPr>
      <dsp:spPr>
        <a:xfrm>
          <a:off x="0" y="77551"/>
          <a:ext cx="5175384" cy="173415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• El detector informa al responsable de seguridad.</a:t>
          </a:r>
        </a:p>
      </dsp:txBody>
      <dsp:txXfrm>
        <a:off x="84655" y="162206"/>
        <a:ext cx="5006074" cy="1564849"/>
      </dsp:txXfrm>
    </dsp:sp>
    <dsp:sp modelId="{64840C4F-9A2C-401D-A8AF-19510459F129}">
      <dsp:nvSpPr>
        <dsp:cNvPr id="0" name=""/>
        <dsp:cNvSpPr/>
      </dsp:nvSpPr>
      <dsp:spPr>
        <a:xfrm>
          <a:off x="0" y="1900990"/>
          <a:ext cx="5175384" cy="1734159"/>
        </a:xfrm>
        <a:prstGeom prst="round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• Si es grave: notificar al CSIRT o dirección de TI.</a:t>
          </a:r>
        </a:p>
      </dsp:txBody>
      <dsp:txXfrm>
        <a:off x="84655" y="1985645"/>
        <a:ext cx="5006074" cy="1564849"/>
      </dsp:txXfrm>
    </dsp:sp>
    <dsp:sp modelId="{365CDEB5-2852-4AAF-96F2-53265B7C5A7E}">
      <dsp:nvSpPr>
        <dsp:cNvPr id="0" name=""/>
        <dsp:cNvSpPr/>
      </dsp:nvSpPr>
      <dsp:spPr>
        <a:xfrm>
          <a:off x="0" y="3724430"/>
          <a:ext cx="5175384" cy="1734159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• Puede incluir aviso a CERT nacionales (p. ej., INCIBE-CERT).</a:t>
          </a:r>
        </a:p>
      </dsp:txBody>
      <dsp:txXfrm>
        <a:off x="84655" y="3809085"/>
        <a:ext cx="5006074" cy="156484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63E372D-935A-44C9-B4E3-76C784DD055F}">
      <dsp:nvSpPr>
        <dsp:cNvPr id="0" name=""/>
        <dsp:cNvSpPr/>
      </dsp:nvSpPr>
      <dsp:spPr>
        <a:xfrm>
          <a:off x="0" y="25116"/>
          <a:ext cx="4941945" cy="123147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• Elaborar informe final.</a:t>
          </a:r>
        </a:p>
      </dsp:txBody>
      <dsp:txXfrm>
        <a:off x="60116" y="85232"/>
        <a:ext cx="4821713" cy="1111247"/>
      </dsp:txXfrm>
    </dsp:sp>
    <dsp:sp modelId="{1BDC88ED-30A4-42A9-8540-5BDB8EE0886D}">
      <dsp:nvSpPr>
        <dsp:cNvPr id="0" name=""/>
        <dsp:cNvSpPr/>
      </dsp:nvSpPr>
      <dsp:spPr>
        <a:xfrm>
          <a:off x="0" y="1345876"/>
          <a:ext cx="4941945" cy="1231479"/>
        </a:xfrm>
        <a:prstGeom prst="round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• Revisar procedimientos.</a:t>
          </a:r>
        </a:p>
      </dsp:txBody>
      <dsp:txXfrm>
        <a:off x="60116" y="1405992"/>
        <a:ext cx="4821713" cy="1111247"/>
      </dsp:txXfrm>
    </dsp:sp>
    <dsp:sp modelId="{74BB1920-6E11-48F9-B7BE-02C7DC397F5F}">
      <dsp:nvSpPr>
        <dsp:cNvPr id="0" name=""/>
        <dsp:cNvSpPr/>
      </dsp:nvSpPr>
      <dsp:spPr>
        <a:xfrm>
          <a:off x="0" y="2666636"/>
          <a:ext cx="4941945" cy="1231479"/>
        </a:xfrm>
        <a:prstGeom prst="round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• Realizar simulacros.</a:t>
          </a:r>
        </a:p>
      </dsp:txBody>
      <dsp:txXfrm>
        <a:off x="60116" y="2726752"/>
        <a:ext cx="4821713" cy="1111247"/>
      </dsp:txXfrm>
    </dsp:sp>
    <dsp:sp modelId="{A8B87F6D-5275-4516-974C-E414BB4278E8}">
      <dsp:nvSpPr>
        <dsp:cNvPr id="0" name=""/>
        <dsp:cNvSpPr/>
      </dsp:nvSpPr>
      <dsp:spPr>
        <a:xfrm>
          <a:off x="0" y="3987396"/>
          <a:ext cx="4941945" cy="1231479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• Aplicar lecciones aprendidas.</a:t>
          </a:r>
        </a:p>
      </dsp:txBody>
      <dsp:txXfrm>
        <a:off x="60116" y="4047512"/>
        <a:ext cx="4821713" cy="111124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1595A0-AF10-4004-A35E-0CA9ED12CE85}">
      <dsp:nvSpPr>
        <dsp:cNvPr id="0" name=""/>
        <dsp:cNvSpPr/>
      </dsp:nvSpPr>
      <dsp:spPr>
        <a:xfrm>
          <a:off x="0" y="61046"/>
          <a:ext cx="4941945" cy="164970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• La detección y notificación tempranas reducen el impacto.</a:t>
          </a:r>
        </a:p>
      </dsp:txBody>
      <dsp:txXfrm>
        <a:off x="80532" y="141578"/>
        <a:ext cx="4780881" cy="1488636"/>
      </dsp:txXfrm>
    </dsp:sp>
    <dsp:sp modelId="{505FD18B-E37B-44C4-8587-2BEF6ECD9CDE}">
      <dsp:nvSpPr>
        <dsp:cNvPr id="0" name=""/>
        <dsp:cNvSpPr/>
      </dsp:nvSpPr>
      <dsp:spPr>
        <a:xfrm>
          <a:off x="0" y="1797146"/>
          <a:ext cx="4941945" cy="1649700"/>
        </a:xfrm>
        <a:prstGeom prst="roundRect">
          <a:avLst/>
        </a:prstGeom>
        <a:solidFill>
          <a:schemeClr val="accent5">
            <a:hueOff val="-4966938"/>
            <a:satOff val="19906"/>
            <a:lumOff val="431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• Cada intento aporta información útil para mejorar.</a:t>
          </a:r>
        </a:p>
      </dsp:txBody>
      <dsp:txXfrm>
        <a:off x="80532" y="1877678"/>
        <a:ext cx="4780881" cy="1488636"/>
      </dsp:txXfrm>
    </dsp:sp>
    <dsp:sp modelId="{1AD7C03F-83B1-4D95-A83F-A1BE2E8D71B3}">
      <dsp:nvSpPr>
        <dsp:cNvPr id="0" name=""/>
        <dsp:cNvSpPr/>
      </dsp:nvSpPr>
      <dsp:spPr>
        <a:xfrm>
          <a:off x="0" y="3533246"/>
          <a:ext cx="4941945" cy="1649700"/>
        </a:xfrm>
        <a:prstGeom prst="round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• Un sistema bien documentado fortalece la ciberseguridad.</a:t>
          </a:r>
        </a:p>
      </dsp:txBody>
      <dsp:txXfrm>
        <a:off x="80532" y="3613778"/>
        <a:ext cx="4780881" cy="148863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16F42E0-28DF-4093-AFC5-CA01F54C88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Vídeo 4" descr="Vista conceptual de edificios de oficinas y el cielo">
            <a:extLst>
              <a:ext uri="{FF2B5EF4-FFF2-40B4-BE49-F238E27FC236}">
                <a16:creationId xmlns:a16="http://schemas.microsoft.com/office/drawing/2014/main" id="{ABD5A37B-AF2C-82A0-4DC3-49FAB24DBD8A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r="24787" b="1"/>
          <a:stretch>
            <a:fillRect/>
          </a:stretch>
        </p:blipFill>
        <p:spPr>
          <a:xfrm>
            <a:off x="2" y="-22"/>
            <a:ext cx="9143998" cy="6858022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4063B759-00FC-46D1-9898-8E8625268F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2511893" y="2511887"/>
            <a:ext cx="6858003" cy="1834218"/>
          </a:xfrm>
          <a:prstGeom prst="rect">
            <a:avLst/>
          </a:prstGeom>
          <a:gradFill flip="none" rotWithShape="1">
            <a:gsLst>
              <a:gs pos="48000">
                <a:srgbClr val="000000">
                  <a:alpha val="24000"/>
                </a:srgbClr>
              </a:gs>
              <a:gs pos="85000">
                <a:srgbClr val="000000">
                  <a:alpha val="45000"/>
                </a:srgbClr>
              </a:gs>
              <a:gs pos="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5B012D8-7F27-4758-9AC6-C889B154BD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70780" y="1682484"/>
            <a:ext cx="6858003" cy="3493010"/>
          </a:xfrm>
          <a:prstGeom prst="rect">
            <a:avLst/>
          </a:prstGeom>
          <a:gradFill flip="none" rotWithShape="1">
            <a:gsLst>
              <a:gs pos="48000">
                <a:srgbClr val="000000">
                  <a:alpha val="24000"/>
                </a:srgbClr>
              </a:gs>
              <a:gs pos="85000">
                <a:srgbClr val="000000">
                  <a:alpha val="45000"/>
                </a:srgbClr>
              </a:gs>
              <a:gs pos="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4" y="728897"/>
            <a:ext cx="4089397" cy="3728614"/>
          </a:xfrm>
        </p:spPr>
        <p:txBody>
          <a:bodyPr anchor="t">
            <a:normAutofit/>
          </a:bodyPr>
          <a:lstStyle/>
          <a:p>
            <a:pPr algn="r"/>
            <a:r>
              <a:rPr lang="es-ES" sz="4500">
                <a:solidFill>
                  <a:srgbClr val="FFFFFF"/>
                </a:solidFill>
              </a:rPr>
              <a:t>Proceso de notificación y gestión de intentos de intrusión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4291" y="4629217"/>
            <a:ext cx="4087109" cy="1499873"/>
          </a:xfrm>
        </p:spPr>
        <p:txBody>
          <a:bodyPr anchor="b">
            <a:normAutofit/>
          </a:bodyPr>
          <a:lstStyle/>
          <a:p>
            <a:pPr algn="r">
              <a:lnSpc>
                <a:spcPct val="90000"/>
              </a:lnSpc>
            </a:pPr>
            <a:r>
              <a:rPr lang="es-ES" sz="2200">
                <a:solidFill>
                  <a:srgbClr val="FFFFFF"/>
                </a:solidFill>
              </a:rPr>
              <a:t>Módulo 3 – Respuesta ante incidentes de seguridad</a:t>
            </a:r>
          </a:p>
          <a:p>
            <a:pPr algn="r">
              <a:lnSpc>
                <a:spcPct val="90000"/>
              </a:lnSpc>
            </a:pPr>
            <a:r>
              <a:rPr lang="es-ES" sz="2200">
                <a:solidFill>
                  <a:srgbClr val="FFFFFF"/>
                </a:solidFill>
              </a:rPr>
              <a:t>Certificado de Profesionalidad IFCT0109 – Seguridad Informática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007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Monitores de ordenador antiguos">
            <a:extLst>
              <a:ext uri="{FF2B5EF4-FFF2-40B4-BE49-F238E27FC236}">
                <a16:creationId xmlns:a16="http://schemas.microsoft.com/office/drawing/2014/main" id="{7770827A-3A12-3252-DED4-6136ECF9506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751" r="18454" b="-1"/>
          <a:stretch>
            <a:fillRect/>
          </a:stretch>
        </p:blipFill>
        <p:spPr>
          <a:xfrm>
            <a:off x="20" y="10"/>
            <a:ext cx="725221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843764" y="0"/>
            <a:ext cx="530023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48707" y="365125"/>
            <a:ext cx="2866642" cy="1899912"/>
          </a:xfrm>
        </p:spPr>
        <p:txBody>
          <a:bodyPr>
            <a:normAutofit/>
          </a:bodyPr>
          <a:lstStyle/>
          <a:p>
            <a:r>
              <a:rPr lang="es-ES" sz="3500"/>
              <a:t>Objetivos de la unidad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48707" y="2434201"/>
            <a:ext cx="2866642" cy="3742762"/>
          </a:xfrm>
        </p:spPr>
        <p:txBody>
          <a:bodyPr>
            <a:normAutofit/>
          </a:bodyPr>
          <a:lstStyle/>
          <a:p>
            <a:r>
              <a:rPr lang="es-ES" sz="1700"/>
              <a:t>• Comprender el flujo de comunicación durante un incidente.</a:t>
            </a:r>
          </a:p>
          <a:p>
            <a:r>
              <a:rPr lang="es-ES" sz="1700"/>
              <a:t>• Conocer los pasos y responsables en la notificación.</a:t>
            </a:r>
          </a:p>
          <a:p>
            <a:r>
              <a:rPr lang="es-ES" sz="1700"/>
              <a:t>• Aprender a registrar, clasificar y gestionar incidentes.</a:t>
            </a:r>
          </a:p>
          <a:p>
            <a:r>
              <a:rPr lang="es-ES" sz="1700"/>
              <a:t>• Usar los informes para mejorar la seguridad futura.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Camión de bomberos aparcado en una estación de bomberos">
            <a:extLst>
              <a:ext uri="{FF2B5EF4-FFF2-40B4-BE49-F238E27FC236}">
                <a16:creationId xmlns:a16="http://schemas.microsoft.com/office/drawing/2014/main" id="{AB7F1F7D-4250-1882-4FC4-6F9867F83C5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628" r="11784" b="-1"/>
          <a:stretch>
            <a:fillRect/>
          </a:stretch>
        </p:blipFill>
        <p:spPr>
          <a:xfrm>
            <a:off x="20" y="10"/>
            <a:ext cx="725221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843764" y="0"/>
            <a:ext cx="530023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48707" y="365125"/>
            <a:ext cx="2866642" cy="1899912"/>
          </a:xfrm>
        </p:spPr>
        <p:txBody>
          <a:bodyPr>
            <a:normAutofit/>
          </a:bodyPr>
          <a:lstStyle/>
          <a:p>
            <a:r>
              <a:rPr lang="es-ES" sz="3500"/>
              <a:t>¿Qué es un intento de intrusión?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48707" y="2434201"/>
            <a:ext cx="2866642" cy="3742762"/>
          </a:xfrm>
        </p:spPr>
        <p:txBody>
          <a:bodyPr>
            <a:normAutofit/>
          </a:bodyPr>
          <a:lstStyle/>
          <a:p>
            <a:r>
              <a:rPr lang="es-ES" sz="1700"/>
              <a:t>• Acción detectada que busca vulnerar la seguridad, aunque no tenga éxito.</a:t>
            </a:r>
          </a:p>
          <a:p>
            <a:r>
              <a:rPr lang="es-ES" sz="1700"/>
              <a:t>• Ejemplos: escaneos de puertos, intentos de acceso fallidos, malware bloqueado.</a:t>
            </a:r>
          </a:p>
          <a:p>
            <a:r>
              <a:rPr lang="es-ES" sz="1700"/>
              <a:t>• Detectado por IDS, SIEM o firewall.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48707" y="365125"/>
            <a:ext cx="2866642" cy="1899912"/>
          </a:xfrm>
        </p:spPr>
        <p:txBody>
          <a:bodyPr>
            <a:normAutofit/>
          </a:bodyPr>
          <a:lstStyle/>
          <a:p>
            <a:r>
              <a:rPr lang="es-ES" sz="3500"/>
              <a:t>Proceso general de notificación</a:t>
            </a:r>
          </a:p>
        </p:txBody>
      </p:sp>
      <p:pic>
        <p:nvPicPr>
          <p:cNvPr id="5" name="Picture 4" descr="Mano sosteniendo un bolígrafo sombreando un número en una hoja">
            <a:extLst>
              <a:ext uri="{FF2B5EF4-FFF2-40B4-BE49-F238E27FC236}">
                <a16:creationId xmlns:a16="http://schemas.microsoft.com/office/drawing/2014/main" id="{3E921DAC-5A5B-B307-60A8-E0EF532FD70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7997" r="1368" b="-1"/>
          <a:stretch>
            <a:fillRect/>
          </a:stretch>
        </p:blipFill>
        <p:spPr>
          <a:xfrm>
            <a:off x="20" y="10"/>
            <a:ext cx="5202273" cy="685799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48707" y="2434201"/>
            <a:ext cx="2866642" cy="3742762"/>
          </a:xfrm>
        </p:spPr>
        <p:txBody>
          <a:bodyPr>
            <a:normAutofit/>
          </a:bodyPr>
          <a:lstStyle/>
          <a:p>
            <a:r>
              <a:rPr lang="es-ES" sz="1700"/>
              <a:t>1. Detección del intento (alerta o log).</a:t>
            </a:r>
          </a:p>
          <a:p>
            <a:r>
              <a:rPr lang="es-ES" sz="1700"/>
              <a:t>2. Registro inicial del evento.</a:t>
            </a:r>
          </a:p>
          <a:p>
            <a:r>
              <a:rPr lang="es-ES" sz="1700"/>
              <a:t>3. Verificación y clasificación.</a:t>
            </a:r>
          </a:p>
          <a:p>
            <a:r>
              <a:rPr lang="es-ES" sz="1700"/>
              <a:t>4. Notificación al responsable o CSIRT.</a:t>
            </a:r>
          </a:p>
          <a:p>
            <a:r>
              <a:rPr lang="es-ES" sz="1700"/>
              <a:t>5. Análisis y respuesta.</a:t>
            </a:r>
          </a:p>
          <a:p>
            <a:r>
              <a:rPr lang="es-ES" sz="1700"/>
              <a:t>6. Documentación final.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0E9A6ED-B880-44EA-8D60-C9D3C82CCB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696" y="557190"/>
            <a:ext cx="3878139" cy="1671564"/>
          </a:xfrm>
        </p:spPr>
        <p:txBody>
          <a:bodyPr>
            <a:normAutofit/>
          </a:bodyPr>
          <a:lstStyle/>
          <a:p>
            <a:r>
              <a:rPr lang="es-ES" sz="3500"/>
              <a:t>Registro del incidente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33B6DC7-ABCE-78B8-07D6-24574EC4BC1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7236" r="9958"/>
          <a:stretch>
            <a:fillRect/>
          </a:stretch>
        </p:blipFill>
        <p:spPr>
          <a:xfrm>
            <a:off x="4637208" y="557189"/>
            <a:ext cx="3878139" cy="5571898"/>
          </a:xfrm>
          <a:prstGeom prst="rect">
            <a:avLst/>
          </a:prstGeom>
          <a:effectLst/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87BF768-B426-13C4-0F73-4F7FB1FCB09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00578987"/>
              </p:ext>
            </p:extLst>
          </p:nvPr>
        </p:nvGraphicFramePr>
        <p:xfrm>
          <a:off x="486697" y="2398030"/>
          <a:ext cx="3885184" cy="37310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Gráfico">
            <a:extLst>
              <a:ext uri="{FF2B5EF4-FFF2-40B4-BE49-F238E27FC236}">
                <a16:creationId xmlns:a16="http://schemas.microsoft.com/office/drawing/2014/main" id="{92F87F89-1831-9291-8F8E-3C9ADD1B870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321" r="22587"/>
          <a:stretch>
            <a:fillRect/>
          </a:stretch>
        </p:blipFill>
        <p:spPr>
          <a:xfrm>
            <a:off x="20" y="10"/>
            <a:ext cx="725221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843764" y="0"/>
            <a:ext cx="530023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48707" y="365125"/>
            <a:ext cx="2866642" cy="1899912"/>
          </a:xfrm>
        </p:spPr>
        <p:txBody>
          <a:bodyPr>
            <a:normAutofit/>
          </a:bodyPr>
          <a:lstStyle/>
          <a:p>
            <a:r>
              <a:rPr lang="es-ES" sz="3500"/>
              <a:t>Clasificación del incidente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48707" y="2434201"/>
            <a:ext cx="2866642" cy="3742762"/>
          </a:xfrm>
        </p:spPr>
        <p:txBody>
          <a:bodyPr>
            <a:normAutofit/>
          </a:bodyPr>
          <a:lstStyle/>
          <a:p>
            <a:r>
              <a:rPr lang="es-ES" sz="1700"/>
              <a:t>• Por gravedad: baja, media, alta.</a:t>
            </a:r>
          </a:p>
          <a:p>
            <a:r>
              <a:rPr lang="es-ES" sz="1700"/>
              <a:t>• Por tipo: intrusión externa, interna, error de configuración.</a:t>
            </a:r>
          </a:p>
          <a:p>
            <a:r>
              <a:rPr lang="es-ES" sz="1700"/>
              <a:t>• Facilita priorizar recursos y respuestas.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s-ES" sz="3300"/>
              <a:t>Notificación a los responsables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onnsiteX0" fmla="*/ 0 w 5410200"/>
              <a:gd name="connsiteY0" fmla="*/ 0 h 13716"/>
              <a:gd name="connsiteX1" fmla="*/ 568071 w 5410200"/>
              <a:gd name="connsiteY1" fmla="*/ 0 h 13716"/>
              <a:gd name="connsiteX2" fmla="*/ 1298448 w 5410200"/>
              <a:gd name="connsiteY2" fmla="*/ 0 h 13716"/>
              <a:gd name="connsiteX3" fmla="*/ 1920621 w 5410200"/>
              <a:gd name="connsiteY3" fmla="*/ 0 h 13716"/>
              <a:gd name="connsiteX4" fmla="*/ 2488692 w 5410200"/>
              <a:gd name="connsiteY4" fmla="*/ 0 h 13716"/>
              <a:gd name="connsiteX5" fmla="*/ 3219069 w 5410200"/>
              <a:gd name="connsiteY5" fmla="*/ 0 h 13716"/>
              <a:gd name="connsiteX6" fmla="*/ 3895344 w 5410200"/>
              <a:gd name="connsiteY6" fmla="*/ 0 h 13716"/>
              <a:gd name="connsiteX7" fmla="*/ 4571619 w 5410200"/>
              <a:gd name="connsiteY7" fmla="*/ 0 h 13716"/>
              <a:gd name="connsiteX8" fmla="*/ 5410200 w 5410200"/>
              <a:gd name="connsiteY8" fmla="*/ 0 h 13716"/>
              <a:gd name="connsiteX9" fmla="*/ 5410200 w 5410200"/>
              <a:gd name="connsiteY9" fmla="*/ 13716 h 13716"/>
              <a:gd name="connsiteX10" fmla="*/ 4842129 w 5410200"/>
              <a:gd name="connsiteY10" fmla="*/ 13716 h 13716"/>
              <a:gd name="connsiteX11" fmla="*/ 4328160 w 5410200"/>
              <a:gd name="connsiteY11" fmla="*/ 13716 h 13716"/>
              <a:gd name="connsiteX12" fmla="*/ 3597783 w 5410200"/>
              <a:gd name="connsiteY12" fmla="*/ 13716 h 13716"/>
              <a:gd name="connsiteX13" fmla="*/ 3029712 w 5410200"/>
              <a:gd name="connsiteY13" fmla="*/ 13716 h 13716"/>
              <a:gd name="connsiteX14" fmla="*/ 2299335 w 5410200"/>
              <a:gd name="connsiteY14" fmla="*/ 13716 h 13716"/>
              <a:gd name="connsiteX15" fmla="*/ 1514856 w 5410200"/>
              <a:gd name="connsiteY15" fmla="*/ 13716 h 13716"/>
              <a:gd name="connsiteX16" fmla="*/ 892683 w 5410200"/>
              <a:gd name="connsiteY16" fmla="*/ 13716 h 13716"/>
              <a:gd name="connsiteX17" fmla="*/ 0 w 5410200"/>
              <a:gd name="connsiteY17" fmla="*/ 13716 h 13716"/>
              <a:gd name="connsiteX18" fmla="*/ 0 w 5410200"/>
              <a:gd name="connsiteY1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60BFF63-E33F-9E82-1B0F-8DB908D0760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84748137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Monitores de ordenador antiguos">
            <a:extLst>
              <a:ext uri="{FF2B5EF4-FFF2-40B4-BE49-F238E27FC236}">
                <a16:creationId xmlns:a16="http://schemas.microsoft.com/office/drawing/2014/main" id="{B0462466-C670-B810-2320-E2C1EE2EF02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751" r="18454" b="-1"/>
          <a:stretch>
            <a:fillRect/>
          </a:stretch>
        </p:blipFill>
        <p:spPr>
          <a:xfrm>
            <a:off x="20" y="10"/>
            <a:ext cx="725221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843764" y="0"/>
            <a:ext cx="530023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48707" y="365125"/>
            <a:ext cx="2866642" cy="1899912"/>
          </a:xfrm>
        </p:spPr>
        <p:txBody>
          <a:bodyPr>
            <a:normAutofit/>
          </a:bodyPr>
          <a:lstStyle/>
          <a:p>
            <a:r>
              <a:rPr lang="es-ES" sz="3500"/>
              <a:t>Comunicación eficaz durante el incidente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48707" y="2434201"/>
            <a:ext cx="2866642" cy="3742762"/>
          </a:xfrm>
        </p:spPr>
        <p:txBody>
          <a:bodyPr>
            <a:normAutofit/>
          </a:bodyPr>
          <a:lstStyle/>
          <a:p>
            <a:r>
              <a:rPr lang="es-ES" sz="1700"/>
              <a:t>• Comunicación continua y clara.</a:t>
            </a:r>
          </a:p>
          <a:p>
            <a:r>
              <a:rPr lang="es-ES" sz="1700"/>
              <a:t>• No compartir datos sensibles por canales inseguros.</a:t>
            </a:r>
          </a:p>
          <a:p>
            <a:r>
              <a:rPr lang="es-ES" sz="1700"/>
              <a:t>• Actualizar el estado del incidente regularmente.</a:t>
            </a:r>
          </a:p>
          <a:p>
            <a:r>
              <a:rPr lang="es-ES" sz="1700"/>
              <a:t>• Registrar todas las decisiones.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48707" y="365125"/>
            <a:ext cx="2866642" cy="1899912"/>
          </a:xfrm>
        </p:spPr>
        <p:txBody>
          <a:bodyPr>
            <a:normAutofit/>
          </a:bodyPr>
          <a:lstStyle/>
          <a:p>
            <a:r>
              <a:rPr lang="es-ES" sz="3500"/>
              <a:t>Gestión del intento de intrusión</a:t>
            </a:r>
          </a:p>
        </p:txBody>
      </p:sp>
      <p:pic>
        <p:nvPicPr>
          <p:cNvPr id="5" name="Picture 4" descr="Lupa resalta un rendimiento económico decreciente">
            <a:extLst>
              <a:ext uri="{FF2B5EF4-FFF2-40B4-BE49-F238E27FC236}">
                <a16:creationId xmlns:a16="http://schemas.microsoft.com/office/drawing/2014/main" id="{04B6308F-B671-D05D-1A26-527F63BE23C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122" r="31242" b="-1"/>
          <a:stretch>
            <a:fillRect/>
          </a:stretch>
        </p:blipFill>
        <p:spPr>
          <a:xfrm>
            <a:off x="20" y="10"/>
            <a:ext cx="5202273" cy="685799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48707" y="2434201"/>
            <a:ext cx="2866642" cy="3742762"/>
          </a:xfrm>
        </p:spPr>
        <p:txBody>
          <a:bodyPr>
            <a:normAutofit/>
          </a:bodyPr>
          <a:lstStyle/>
          <a:p>
            <a:r>
              <a:rPr lang="es-ES" sz="1700"/>
              <a:t>1. Confirmar que no hay afectación.</a:t>
            </a:r>
          </a:p>
          <a:p>
            <a:r>
              <a:rPr lang="es-ES" sz="1700"/>
              <a:t>2. Revisar logs y correlaciones.</a:t>
            </a:r>
          </a:p>
          <a:p>
            <a:r>
              <a:rPr lang="es-ES" sz="1700"/>
              <a:t>3. Actualizar el ticket del incidente.</a:t>
            </a:r>
          </a:p>
          <a:p>
            <a:r>
              <a:rPr lang="es-ES" sz="1700"/>
              <a:t>4. Analizar necesidad de contención.</a:t>
            </a:r>
          </a:p>
          <a:p>
            <a:r>
              <a:rPr lang="es-ES" sz="1700"/>
              <a:t>5. Registrar cierre o escalado.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Lápiz y hoja de respuestas">
            <a:extLst>
              <a:ext uri="{FF2B5EF4-FFF2-40B4-BE49-F238E27FC236}">
                <a16:creationId xmlns:a16="http://schemas.microsoft.com/office/drawing/2014/main" id="{D0962A82-3B17-9BA4-9728-D8191E0E4F4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9988" r="-1" b="-1"/>
          <a:stretch>
            <a:fillRect/>
          </a:stretch>
        </p:blipFill>
        <p:spPr>
          <a:xfrm>
            <a:off x="20" y="10"/>
            <a:ext cx="725221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843764" y="0"/>
            <a:ext cx="530023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48707" y="365125"/>
            <a:ext cx="2866642" cy="1899912"/>
          </a:xfrm>
        </p:spPr>
        <p:txBody>
          <a:bodyPr>
            <a:normAutofit/>
          </a:bodyPr>
          <a:lstStyle/>
          <a:p>
            <a:r>
              <a:rPr lang="es-ES" sz="3500"/>
              <a:t>Ejemplo práctico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48707" y="2434201"/>
            <a:ext cx="2866642" cy="3742762"/>
          </a:xfrm>
        </p:spPr>
        <p:txBody>
          <a:bodyPr>
            <a:normAutofit/>
          </a:bodyPr>
          <a:lstStyle/>
          <a:p>
            <a:r>
              <a:rPr lang="es-ES" sz="1700"/>
              <a:t>Escenario: múltiples intentos de acceso SSH fallidos desde una IP extranjera.</a:t>
            </a:r>
          </a:p>
          <a:p>
            <a:r>
              <a:rPr lang="es-ES" sz="1700"/>
              <a:t>1. Registrar evento.</a:t>
            </a:r>
          </a:p>
          <a:p>
            <a:r>
              <a:rPr lang="es-ES" sz="1700"/>
              <a:t>2. Verificar patrón.</a:t>
            </a:r>
          </a:p>
          <a:p>
            <a:r>
              <a:rPr lang="es-ES" sz="1700"/>
              <a:t>3. Bloquear IP.</a:t>
            </a:r>
          </a:p>
          <a:p>
            <a:r>
              <a:rPr lang="es-ES" sz="1700"/>
              <a:t>4. Notificar responsable.</a:t>
            </a:r>
          </a:p>
          <a:p>
            <a:r>
              <a:rPr lang="es-ES" sz="1700"/>
              <a:t>5. Documentar cierre como 'intento externo'.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alpha val="3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5278130-DFE0-457B-8698-88DF69019D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3" y="0"/>
            <a:ext cx="9141714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F99531B-1681-4D6E-BECB-18325B33A6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3" y="0"/>
            <a:ext cx="9141714" cy="6858000"/>
          </a:xfrm>
          <a:prstGeom prst="rect">
            <a:avLst/>
          </a:prstGeom>
          <a:solidFill>
            <a:schemeClr val="bg2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0344094-430A-400B-804B-910E696A1A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8743" y="709375"/>
            <a:ext cx="8035257" cy="5433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53C67DF-7782-4E57-AB9B-F1B4811AD8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084243" y="1789005"/>
            <a:ext cx="5413238" cy="3244751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8725" y="675564"/>
            <a:ext cx="2707375" cy="5204085"/>
          </a:xfrm>
        </p:spPr>
        <p:txBody>
          <a:bodyPr>
            <a:normAutofit/>
          </a:bodyPr>
          <a:lstStyle/>
          <a:p>
            <a:r>
              <a:rPr lang="es-ES" sz="3100"/>
              <a:t>Documentación y mejora continua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03A5AE3-BD30-455C-842B-7626C8BEF0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524492" y="5610"/>
            <a:ext cx="0" cy="6858000"/>
          </a:xfrm>
          <a:prstGeom prst="line">
            <a:avLst/>
          </a:prstGeom>
          <a:ln w="9525" cap="rnd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DBECAA5-1F2D-470D-875C-8F2C2CA3E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18001"/>
            <a:ext cx="9144000" cy="0"/>
          </a:xfrm>
          <a:prstGeom prst="line">
            <a:avLst/>
          </a:prstGeom>
          <a:ln w="9525" cap="rnd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47F73A6-140E-38F5-5A2F-211576B72E7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38195880"/>
              </p:ext>
            </p:extLst>
          </p:nvPr>
        </p:nvGraphicFramePr>
        <p:xfrm>
          <a:off x="3582547" y="819369"/>
          <a:ext cx="4941945" cy="52439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alpha val="3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5278130-DFE0-457B-8698-88DF69019D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3" y="0"/>
            <a:ext cx="9141714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F99531B-1681-4D6E-BECB-18325B33A6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3" y="0"/>
            <a:ext cx="9141714" cy="6858000"/>
          </a:xfrm>
          <a:prstGeom prst="rect">
            <a:avLst/>
          </a:prstGeom>
          <a:solidFill>
            <a:schemeClr val="bg2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0344094-430A-400B-804B-910E696A1A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8743" y="709375"/>
            <a:ext cx="8035257" cy="5433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53C67DF-7782-4E57-AB9B-F1B4811AD8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084243" y="1789005"/>
            <a:ext cx="5413238" cy="3244751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8725" y="675564"/>
            <a:ext cx="2707375" cy="5204085"/>
          </a:xfrm>
        </p:spPr>
        <p:txBody>
          <a:bodyPr>
            <a:normAutofit/>
          </a:bodyPr>
          <a:lstStyle/>
          <a:p>
            <a:r>
              <a:t>Conclusión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03A5AE3-BD30-455C-842B-7626C8BEF0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524492" y="5610"/>
            <a:ext cx="0" cy="6858000"/>
          </a:xfrm>
          <a:prstGeom prst="line">
            <a:avLst/>
          </a:prstGeom>
          <a:ln w="9525" cap="rnd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DBECAA5-1F2D-470D-875C-8F2C2CA3E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18001"/>
            <a:ext cx="9144000" cy="0"/>
          </a:xfrm>
          <a:prstGeom prst="line">
            <a:avLst/>
          </a:prstGeom>
          <a:ln w="9525" cap="rnd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8A9C0FF-06FD-358E-E0BB-059A545212D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66514242"/>
              </p:ext>
            </p:extLst>
          </p:nvPr>
        </p:nvGraphicFramePr>
        <p:xfrm>
          <a:off x="3582547" y="819369"/>
          <a:ext cx="4941945" cy="52439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435</Words>
  <Application>Microsoft Office PowerPoint</Application>
  <PresentationFormat>Presentación en pantalla (4:3)</PresentationFormat>
  <Paragraphs>58</Paragraphs>
  <Slides>12</Slides>
  <Notes>0</Notes>
  <HiddenSlides>0</HiddenSlides>
  <MMClips>1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Proceso de notificación y gestión de intentos de intrusión</vt:lpstr>
      <vt:lpstr>Objetivos de la unidad</vt:lpstr>
      <vt:lpstr>¿Qué es un intento de intrusión?</vt:lpstr>
      <vt:lpstr>Proceso general de notificación</vt:lpstr>
      <vt:lpstr>Registro del incidente</vt:lpstr>
      <vt:lpstr>Clasificación del incidente</vt:lpstr>
      <vt:lpstr>Notificación a los responsables</vt:lpstr>
      <vt:lpstr>Comunicación eficaz durante el incidente</vt:lpstr>
      <vt:lpstr>Gestión del intento de intrusión</vt:lpstr>
      <vt:lpstr>Ejemplo práctico</vt:lpstr>
      <vt:lpstr>Documentación y mejora continua</vt:lpstr>
      <vt:lpstr>Conclusión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Alberto Ruiz</cp:lastModifiedBy>
  <cp:revision>2</cp:revision>
  <dcterms:created xsi:type="dcterms:W3CDTF">2013-01-27T09:14:16Z</dcterms:created>
  <dcterms:modified xsi:type="dcterms:W3CDTF">2025-11-02T16:14:50Z</dcterms:modified>
  <cp:category/>
</cp:coreProperties>
</file>